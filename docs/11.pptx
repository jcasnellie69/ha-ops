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Inter" pitchFamily="2" charset="0"/>
      <p:regular r:id="rId8"/>
      <p:bold r:id="rId11"/>
      <p:italic r:id="rId10"/>
      <p:boldItalic r:id="rId9"/>
    </p:embeddedFont>
    <p:embeddedFont>
      <p:font typeface="Arvo" pitchFamily="2" charset="0"/>
      <p:regular r:id="rId12"/>
      <p:bold r:id="rId15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62873"/>
            <a:ext cx="12192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15691" y="228600"/>
            <a:ext cx="6360467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976D2"/>
                </a:solidFill>
                <a:latin typeface="Arvo"/>
              </a:rPr>
              <a:t>Migration Actions: PARMLIB Priority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1275" y="6633269"/>
            <a:ext cx="8269597" cy="1623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1">
                <a:solidFill>
                  <a:srgbClr val="0D47A1"/>
                </a:solidFill>
                <a:latin typeface="Inter"/>
              </a:rPr>
              <a:t>Recommended tool:</a:t>
            </a:r>
            <a:r>
              <a:rPr sz="936" b="0" i="1">
                <a:solidFill>
                  <a:srgbClr val="0D47A1"/>
                </a:solidFill>
                <a:latin typeface="Inter"/>
              </a:rPr>
              <a:t> Run z/OS Upgrade Workflow in z/OSMF to generate a personalized PARMLIB checklist for your specific installation configuration.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651694"/>
            <a:ext cx="370522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055316"/>
            <a:ext cx="3705225" cy="952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60" y="2794694"/>
            <a:ext cx="344805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106935"/>
            <a:ext cx="3705225" cy="800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460" y="3691830"/>
            <a:ext cx="344805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4004071"/>
            <a:ext cx="3705225" cy="952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460" y="4743450"/>
            <a:ext cx="344805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5055691"/>
            <a:ext cx="3705225" cy="952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460" y="5795069"/>
            <a:ext cx="3448050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5226" y="1712565"/>
            <a:ext cx="212749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Segoe UI Emoji"/>
              </a:rPr>
              <a:t>🔴</a:t>
            </a:r>
            <a:r>
              <a:rPr sz="1260" b="1" i="0">
                <a:solidFill>
                  <a:srgbClr val="FFFFFF"/>
                </a:solidFill>
                <a:latin typeface="Arvo"/>
              </a:rPr>
              <a:t> Critical — Before First IPL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460" y="2131516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BPXPRMxx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460" y="2295227"/>
            <a:ext cx="3410057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Remove all HFS params (BUFFERMONITOR, FIXED,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RNODEWAIT, SYNCDEFAULT, WAITABEND, VIRTUAL). Add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REXXPARSE if using REXX automation.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741" y="2809875"/>
            <a:ext cx="65037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695C"/>
                </a:solidFill>
                <a:latin typeface="Inter"/>
              </a:rPr>
              <a:t>Hybrid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460" y="318313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IEASYSxx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460" y="3346846"/>
            <a:ext cx="3593242" cy="2878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Replace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VRREGN= / VREALSZ=</a:t>
            </a:r>
            <a:r>
              <a:rPr sz="936" b="0" i="0">
                <a:solidFill>
                  <a:srgbClr val="333333"/>
                </a:solidFill>
                <a:latin typeface="Inter"/>
              </a:rPr>
              <a:t> with </a:t>
            </a:r>
            <a:r>
              <a:rPr sz="936" b="1" i="0">
                <a:solidFill>
                  <a:srgbClr val="1976D2"/>
                </a:solidFill>
                <a:latin typeface="Inter"/>
              </a:rPr>
              <a:t>REAL=nnnM</a:t>
            </a:r>
            <a:r>
              <a:rPr sz="936" b="0" i="0">
                <a:solidFill>
                  <a:srgbClr val="333333"/>
                </a:solidFill>
                <a:latin typeface="Inter"/>
              </a:rPr>
              <a:t> . Leaving old</a:t>
            </a:r>
            <a:r>
              <a:rPr sz="936" b="0" i="0">
                <a:solidFill>
                  <a:srgbClr val="333333"/>
                </a:solidFill>
                <a:latin typeface="Inter"/>
              </a:rPr>
              <a:t> params causes IPL failure on 3.2.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741" y="3707010"/>
            <a:ext cx="23604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BF360C"/>
                </a:solidFill>
                <a:latin typeface="Inter"/>
              </a:rPr>
              <a:t>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460" y="4080271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IEAOPTxx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460" y="4243982"/>
            <a:ext cx="3339542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Test </a:t>
            </a:r>
            <a:r>
              <a:rPr sz="936" b="1" i="0">
                <a:solidFill>
                  <a:srgbClr val="1976D2"/>
                </a:solidFill>
                <a:latin typeface="Inter"/>
              </a:rPr>
              <a:t>CPENABLE=SYSTEM</a:t>
            </a:r>
            <a:r>
              <a:rPr sz="936" b="0" i="0">
                <a:solidFill>
                  <a:srgbClr val="333333"/>
                </a:solidFill>
                <a:latin typeface="Inter"/>
              </a:rPr>
              <a:t> (new default) in non-prod LPAR.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Review WLM service definitions and capacity automation for</a:t>
            </a:r>
            <a:r>
              <a:rPr sz="936" b="0" i="0">
                <a:solidFill>
                  <a:srgbClr val="333333"/>
                </a:solidFill>
                <a:latin typeface="Inter"/>
              </a:rPr>
              <a:t> conflicts.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741" y="4758630"/>
            <a:ext cx="66005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Workloads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460" y="5131891"/>
            <a:ext cx="98747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CSFPRMxx (ICSF)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460" y="5295602"/>
            <a:ext cx="3591402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Enable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PKCS11SUPPORT(ENABLE)</a:t>
            </a:r>
            <a:r>
              <a:rPr sz="936" b="0" i="0">
                <a:solidFill>
                  <a:srgbClr val="333333"/>
                </a:solidFill>
                <a:latin typeface="Inter"/>
              </a:rPr>
              <a:t> . Set</a:t>
            </a:r>
            <a:r>
              <a:rPr sz="936" b="0" i="0">
                <a:solidFill>
                  <a:srgbClr val="333333"/>
                </a:solidFill>
                <a:latin typeface="Inter"/>
              </a:rPr>
              <a:t> FIPSMODE(COMPAT). Activate ML-KEM-768, ML-DSA-65, SLH-</a:t>
            </a:r>
            <a:r>
              <a:rPr sz="936" b="0" i="0">
                <a:solidFill>
                  <a:srgbClr val="333333"/>
                </a:solidFill>
                <a:latin typeface="Inter"/>
              </a:rPr>
              <a:t> DSA alongside classical algorithms.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741" y="5810250"/>
            <a:ext cx="707975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565C0"/>
                </a:solidFill>
                <a:latin typeface="Inter"/>
              </a:rPr>
              <a:t>Quantum-Safe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1750" y="1651694"/>
            <a:ext cx="3705225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1750" y="2055316"/>
            <a:ext cx="3705225" cy="952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411" y="2794694"/>
            <a:ext cx="344805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1750" y="3106935"/>
            <a:ext cx="3705225" cy="952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6411" y="3846314"/>
            <a:ext cx="344805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1750" y="4158555"/>
            <a:ext cx="3705225" cy="8001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6411" y="4743450"/>
            <a:ext cx="344805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1750" y="5055691"/>
            <a:ext cx="3705225" cy="8001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6411" y="5640585"/>
            <a:ext cx="3448050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875907" y="1712565"/>
            <a:ext cx="2440185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Segoe UI Emoji"/>
              </a:rPr>
              <a:t>🟡</a:t>
            </a:r>
            <a:r>
              <a:rPr sz="1260" b="1" i="0">
                <a:solidFill>
                  <a:srgbClr val="FFFFFF"/>
                </a:solidFill>
                <a:latin typeface="Arvo"/>
              </a:rPr>
              <a:t> Important — Before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6411" y="2131516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IRRPRMxx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6411" y="2295227"/>
            <a:ext cx="3498047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Add </a:t>
            </a:r>
            <a:r>
              <a:rPr sz="936" b="1" i="0">
                <a:solidFill>
                  <a:srgbClr val="1976D2"/>
                </a:solidFill>
                <a:latin typeface="Inter"/>
              </a:rPr>
              <a:t>REUSASID=YES</a:t>
            </a:r>
            <a:r>
              <a:rPr sz="936" b="0" i="0">
                <a:solidFill>
                  <a:srgbClr val="333333"/>
                </a:solidFill>
                <a:latin typeface="Inter"/>
              </a:rPr>
              <a:t> to RACF START command. Enable User</a:t>
            </a:r>
            <a:r>
              <a:rPr sz="936" b="0" i="0">
                <a:solidFill>
                  <a:srgbClr val="333333"/>
                </a:solidFill>
                <a:latin typeface="Inter"/>
              </a:rPr>
              <a:t> ID Containment (APAR OA67286). Add DSNRAUTH to</a:t>
            </a:r>
            <a:r>
              <a:rPr sz="936" b="0" i="0">
                <a:solidFill>
                  <a:srgbClr val="333333"/>
                </a:solidFill>
                <a:latin typeface="Inter"/>
              </a:rPr>
              <a:t> SETROPTS RACLIST.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9691" y="2809875"/>
            <a:ext cx="40883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565C0"/>
                </a:solidFill>
                <a:latin typeface="Inter"/>
              </a:rPr>
              <a:t>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6411" y="318313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IARPRMxx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6411" y="3346846"/>
            <a:ext cx="3358857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Set </a:t>
            </a:r>
            <a:r>
              <a:rPr sz="936" b="1" i="0">
                <a:solidFill>
                  <a:srgbClr val="1976D2"/>
                </a:solidFill>
                <a:latin typeface="Inter"/>
              </a:rPr>
              <a:t>RESTRICTPFTCADS</a:t>
            </a:r>
            <a:r>
              <a:rPr sz="936" b="0" i="0">
                <a:solidFill>
                  <a:srgbClr val="333333"/>
                </a:solidFill>
                <a:latin typeface="Inter"/>
              </a:rPr>
              <a:t> to restrict PTFCADS to OS only.</a:t>
            </a:r>
            <a:r>
              <a:rPr sz="936" b="0" i="0">
                <a:solidFill>
                  <a:srgbClr val="333333"/>
                </a:solidFill>
                <a:latin typeface="Inter"/>
              </a:rPr>
              <a:t> Evaluate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ARR2V_REQAUTH</a:t>
            </a:r>
            <a:r>
              <a:rPr sz="936" b="0" i="0">
                <a:solidFill>
                  <a:srgbClr val="333333"/>
                </a:solidFill>
                <a:latin typeface="Inter"/>
              </a:rPr>
              <a:t> to protect AI inference memory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regions.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9691" y="3861494"/>
            <a:ext cx="598735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/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411" y="423475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SMFLIMxx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6411" y="4398466"/>
            <a:ext cx="3541735" cy="3252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Configure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CHECKREGIONABOVE</a:t>
            </a:r>
            <a:r>
              <a:rPr sz="936" b="0" i="0">
                <a:solidFill>
                  <a:srgbClr val="333333"/>
                </a:solidFill>
                <a:latin typeface="Inter"/>
              </a:rPr>
              <a:t> to cap AI workload memory.</a:t>
            </a:r>
            <a:r>
              <a:rPr sz="936" b="0" i="0">
                <a:solidFill>
                  <a:srgbClr val="333333"/>
                </a:solidFill>
                <a:latin typeface="Inter"/>
              </a:rPr>
              <a:t> Use IGNOREIEFUSI where IEFUSI exit conflicts with new limits.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9691" y="4758630"/>
            <a:ext cx="66005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Workloads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6411" y="5131891"/>
            <a:ext cx="39498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DIAGxx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6411" y="5295602"/>
            <a:ext cx="3211542" cy="3554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Set </a:t>
            </a:r>
            <a:r>
              <a:rPr sz="936" b="1" i="0">
                <a:solidFill>
                  <a:srgbClr val="1976D2"/>
                </a:solidFill>
                <a:latin typeface="Inter"/>
              </a:rPr>
              <a:t>ASCBV31</a:t>
            </a:r>
            <a:r>
              <a:rPr sz="936" b="0" i="0">
                <a:solidFill>
                  <a:srgbClr val="333333"/>
                </a:solidFill>
                <a:latin typeface="Inter"/>
              </a:rPr>
              <a:t> explicitly. Default behavior differs from prior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releases; test in isolated LPAR before production IPL.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9691" y="5655766"/>
            <a:ext cx="23604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BF360C"/>
                </a:solidFill>
                <a:latin typeface="Inter"/>
              </a:rPr>
              <a:t>Core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8849" y="1651694"/>
            <a:ext cx="3705225" cy="3048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8849" y="2055316"/>
            <a:ext cx="3705225" cy="9525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3510" y="2794694"/>
            <a:ext cx="3448050" cy="1428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8849" y="3106935"/>
            <a:ext cx="3705225" cy="9525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510" y="3846314"/>
            <a:ext cx="3448050" cy="1428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8849" y="4158555"/>
            <a:ext cx="3705225" cy="9525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3510" y="4897933"/>
            <a:ext cx="3448050" cy="1428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8849" y="5210175"/>
            <a:ext cx="3705225" cy="9525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510" y="5949553"/>
            <a:ext cx="3448050" cy="14287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607921" y="1712565"/>
            <a:ext cx="285020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Segoe UI Emoji"/>
              </a:rPr>
              <a:t>🟢</a:t>
            </a:r>
            <a:r>
              <a:rPr sz="1260" b="1" i="0">
                <a:solidFill>
                  <a:srgbClr val="FFFFFF"/>
                </a:solidFill>
                <a:latin typeface="Arvo"/>
              </a:rPr>
              <a:t> Beneficial — Exploit New Capabilities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3510" y="2131516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CTnBPXxx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3510" y="2295227"/>
            <a:ext cx="3420481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Increase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BUFSIZE</a:t>
            </a:r>
            <a:r>
              <a:rPr sz="936" b="0" i="0">
                <a:solidFill>
                  <a:srgbClr val="333333"/>
                </a:solidFill>
                <a:latin typeface="Inter"/>
              </a:rPr>
              <a:t> up to 2047 MB for AI model data and large</a:t>
            </a:r>
            <a:r>
              <a:rPr sz="936" b="0" i="0">
                <a:solidFill>
                  <a:srgbClr val="333333"/>
                </a:solidFill>
                <a:latin typeface="Inter"/>
              </a:rPr>
              <a:t> UNIX workloads. Validate with AI framework memory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requirements.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6791" y="2809875"/>
            <a:ext cx="483393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/ Cloud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3510" y="318313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IZUPRMxx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3510" y="3346846"/>
            <a:ext cx="3562890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Enable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AUTOCONFIG(ENABLE)</a:t>
            </a:r>
            <a:r>
              <a:rPr sz="936" b="0" i="0">
                <a:solidFill>
                  <a:srgbClr val="333333"/>
                </a:solidFill>
                <a:latin typeface="Inter"/>
              </a:rPr>
              <a:t> for new z/OSMF automation</a:t>
            </a:r>
            <a:r>
              <a:rPr sz="936" b="0" i="0">
                <a:solidFill>
                  <a:srgbClr val="333333"/>
                </a:solidFill>
                <a:latin typeface="Inter"/>
              </a:rPr>
              <a:t> workflows. Reduces software install and OS config manual steps</a:t>
            </a:r>
            <a:r>
              <a:rPr sz="936" b="0" i="0">
                <a:solidFill>
                  <a:srgbClr val="333333"/>
                </a:solidFill>
                <a:latin typeface="Inter"/>
              </a:rPr>
              <a:t> by ~40%.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76791" y="3861494"/>
            <a:ext cx="65037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695C"/>
                </a:solidFill>
                <a:latin typeface="Inter"/>
              </a:rPr>
              <a:t>Hybrid Cloud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3510" y="423475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WLMPRMxx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3510" y="4398466"/>
            <a:ext cx="3318234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Define dedicated service classes for AI inference workloads.</a:t>
            </a:r>
            <a:r>
              <a:rPr sz="936" b="0" i="0">
                <a:solidFill>
                  <a:srgbClr val="333333"/>
                </a:solidFill>
                <a:latin typeface="Inter"/>
              </a:rPr>
              <a:t> Enable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WLM Policy Advisor</a:t>
            </a:r>
            <a:r>
              <a:rPr sz="936" b="0" i="0">
                <a:solidFill>
                  <a:srgbClr val="333333"/>
                </a:solidFill>
                <a:latin typeface="Inter"/>
              </a:rPr>
              <a:t> for AI-driven performance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recommendations.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76791" y="4913114"/>
            <a:ext cx="66005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Workloads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3510" y="5286375"/>
            <a:ext cx="125075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COUPLExx / BPXPRMxx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3510" y="5450085"/>
            <a:ext cx="3283897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Size CF structures for container workloads. Add ZFS mount</a:t>
            </a:r>
            <a:r>
              <a:rPr sz="936" b="0" i="0">
                <a:solidFill>
                  <a:srgbClr val="333333"/>
                </a:solidFill>
                <a:latin typeface="Inter"/>
              </a:rPr>
              <a:t> points for Docker/zCX images. Verify MAXPROCSYS for AI</a:t>
            </a:r>
            <a:r>
              <a:rPr sz="936" b="0" i="0">
                <a:solidFill>
                  <a:srgbClr val="333333"/>
                </a:solidFill>
                <a:latin typeface="Inter"/>
              </a:rPr>
              <a:t> daemon address spaces.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76791" y="5964733"/>
            <a:ext cx="65037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695C"/>
                </a:solidFill>
                <a:latin typeface="Inter"/>
              </a:rPr>
              <a:t>Hybrid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