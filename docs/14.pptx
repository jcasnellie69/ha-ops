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Inter" pitchFamily="2" charset="0"/>
      <p:regular r:id="rId8"/>
      <p:bold r:id="rId11"/>
      <p:italic r:id="rId10"/>
      <p:boldItalic r:id="rId9"/>
    </p:embeddedFont>
    <p:embeddedFont>
      <p:font typeface="Arvo" pitchFamily="2" charset="0"/>
      <p:regular r:id="rId12"/>
      <p:bold r:id="rId15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4974" y="152400"/>
            <a:ext cx="7842051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B71C1C"/>
                </a:solidFill>
                <a:latin typeface="Arvo"/>
              </a:rPr>
              <a:t>z/OS 3.2 Function Matrix — Part 3: Deprecated &amp; Removed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33228" y="489495"/>
            <a:ext cx="672554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66666"/>
                </a:solidFill>
                <a:latin typeface="Inter"/>
              </a:rPr>
              <a:t>Impact: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🔴</a:t>
            </a:r>
            <a:r>
              <a:rPr sz="864" b="0" i="0">
                <a:solidFill>
                  <a:srgbClr val="666666"/>
                </a:solidFill>
                <a:latin typeface="Inter"/>
              </a:rPr>
              <a:t> IPL Failure Risk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🟠</a:t>
            </a:r>
            <a:r>
              <a:rPr sz="864" b="0" i="0">
                <a:solidFill>
                  <a:srgbClr val="666666"/>
                </a:solidFill>
                <a:latin typeface="Inter"/>
              </a:rPr>
              <a:t> Functional Loss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🟡</a:t>
            </a:r>
            <a:r>
              <a:rPr sz="864" b="0" i="0">
                <a:solidFill>
                  <a:srgbClr val="666666"/>
                </a:solidFill>
                <a:latin typeface="Inter"/>
              </a:rPr>
              <a:t> Action Required  ·  Status: REMOVED · DEPRECATED · CHANGED  ·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☐</a:t>
            </a:r>
            <a:r>
              <a:rPr sz="864" b="0" i="0">
                <a:solidFill>
                  <a:srgbClr val="666666"/>
                </a:solidFill>
                <a:latin typeface="Inter"/>
              </a:rPr>
              <a:t> = Track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60" y="4605932"/>
            <a:ext cx="11820525" cy="21907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760" y="695176"/>
          <a:ext cx="11826474" cy="38650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4269"/>
                <a:gridCol w="2601813"/>
                <a:gridCol w="1064269"/>
                <a:gridCol w="946100"/>
                <a:gridCol w="709463"/>
                <a:gridCol w="2601813"/>
                <a:gridCol w="2247007"/>
                <a:gridCol w="591740"/>
              </a:tblGrid>
              <a:tr h="2034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Function / Feature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Impact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Status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Since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Risk / Detail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Replacement / Action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Track</a:t>
                      </a:r>
                    </a:p>
                  </a:txBody>
                  <a:tcPr anchor="ctr">
                    <a:solidFill>
                      <a:srgbClr val="B71C1C"/>
                    </a:solidFill>
                  </a:tcPr>
                </a:tc>
              </a:tr>
              <a:tr h="20342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⛔</a:t>
                      </a: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 REMOVED IN z/OS 3.2 — Immediate Action Required Before IPL</a:t>
                      </a:r>
                    </a:p>
                  </a:txBody>
                  <a:tcPr anchor="ctr">
                    <a:solidFill>
                      <a:srgbClr val="B71C1C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BPXPRMxx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HFS params: BUFFERMONITOR, FIXED, RNODEWAIT, SYNCDEFAULT, WAITABEND, VIRTUAL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Parameters deleted; presence causes IPL failure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Remove all HFS params; ZFS mandatory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IEASYSxx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VRREGN= and VREALSZ= parameters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Causes IPL failure if present in 3.2 IEASYSxx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Replace with REAL=nnnM or REAL=nnnG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C/C++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C/C++ Host Performance Analyzer (FMIDs H24P111, J24P112)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Product removed; no longer orderable or installable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IBM Developer for z/OS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AI/ML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System Services 1.1 (AISS 1.1) &amp; MLz Core 3.1 (HAQN310)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Dec 2025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AISS 1.1 and MLz Core 3.1 superseded and 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Install AISS 1.2 and MLz Core 3.2 (HAQN320)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⚠️</a:t>
                      </a: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 REMOVED IN PRIOR RELEASES — Verify Not Present When Migrating to 3.2</a:t>
                      </a:r>
                    </a:p>
                  </a:txBody>
                  <a:tcPr anchor="ctr">
                    <a:solidFill>
                      <a:srgbClr val="E65100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HFS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Hierarchical File System (HFS) data structure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2.5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Cannot mount DSNTYPE=HFS; remaining HFS mounts fail at IPL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Migrate all HFS to ZFS using zfsadm convert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JES3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JES3 — Job Entry Subsystem 3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IPL Risk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JES3 removed; JES2 is sole JES in 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Migrate to JES2; use IBM migration guide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BDT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Bulk Data Transfer (BDT, BDT File-to-File, BDT SNA NJE)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All BDT elements removed; not available in 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FTP, Connect:Direct, or MQ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Comm Svr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Communications Server Security Level 3 (standalone)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Unpriced feature removed; function 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z/OS Security Level 3 optional feature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IBM KC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IBM Knowledge Center for z/OS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Base element removed; documentation moved online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ibm.com/docs/en/zos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Alternate Base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Alternate Base priced feature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Priced feature removed; not available in 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Review licensing; contact IBM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🟡</a:t>
                      </a: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 DEPRECATED / CHANGED DEFAULTS — Plan Migration Before Future Release</a:t>
                      </a:r>
                    </a:p>
                  </a:txBody>
                  <a:tcPr anchor="ctr">
                    <a:solidFill>
                      <a:srgbClr val="F57F17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IEAOPTxx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CPENABLE=OFF (prior default behavior)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CHANGED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Default now CPENABLE=SYSTEM; CPU automation may conflict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Test in non-prod LPAR; review capacity tools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System SSL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Prior TLS default cipher suite settings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Loss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CHANGED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Weaker cipher suites may be disabled by new defaults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Audit AT-TLS policies; test all TLS connections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BPXPRMxx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REXXPARSE default behavior (pre-3.2)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CHANGED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REXXPARSE param changes REXX detection criteria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Set REXXPARSE explicitly; test all REXX scripts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DFSMS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DCOLLECT DVLCSMSS field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71C1C"/>
                          </a:solidFill>
                          <a:latin typeface="Inter"/>
                        </a:rPr>
                        <a:t>REMOVED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Field removed from DCOLLECT Output Record Structure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Update programs parsing DCOLLECT output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  <a:tr h="2034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B71C1C"/>
                          </a:solidFill>
                          <a:latin typeface="Arvo"/>
                        </a:rPr>
                        <a:t>RMF 3.1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RMF for z/OS 3.1 documentation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🟡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Action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BF360C"/>
                          </a:solidFill>
                          <a:latin typeface="Inter"/>
                        </a:rPr>
                        <a:t>DEPRECATED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3.2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RMF 3.1 docs no longer published or maintained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0" i="1">
                          <a:solidFill>
                            <a:srgbClr val="2E7D32"/>
                          </a:solidFill>
                          <a:latin typeface="Microsoft YaHei"/>
                        </a:rPr>
                        <a:t>→ Use RMF for z/OS 3.2 documentation exclusively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FF5F5"/>
                    </a:solidFill>
                    <a:lnB w="9525" cmpd="sng">
                      <a:solidFill>
                        <a:srgbClr val="FFCD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7785" y="4663082"/>
            <a:ext cx="7897353" cy="1428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965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>
                <a:solidFill>
                  <a:srgbClr val="BF360C"/>
                </a:solidFill>
                <a:latin typeface="Segoe UI Emoji"/>
              </a:rPr>
              <a:t>⚠️</a:t>
            </a:r>
            <a:r>
              <a:rPr sz="804" b="0" i="0">
                <a:solidFill>
                  <a:srgbClr val="BF360C"/>
                </a:solidFill>
                <a:latin typeface="Inter"/>
              </a:rPr>
              <a:t> </a:t>
            </a:r>
            <a:r>
              <a:rPr sz="804" b="1" i="0">
                <a:solidFill>
                  <a:srgbClr val="BF360C"/>
                </a:solidFill>
                <a:latin typeface="Inter"/>
              </a:rPr>
              <a:t>Migration Rule:</a:t>
            </a:r>
            <a:r>
              <a:rPr sz="804" b="0" i="0">
                <a:solidFill>
                  <a:srgbClr val="BF360C"/>
                </a:solidFill>
                <a:latin typeface="Inter"/>
              </a:rPr>
              <a:t> Run </a:t>
            </a:r>
            <a:r>
              <a:rPr sz="804" b="1" i="0">
                <a:solidFill>
                  <a:srgbClr val="BF360C"/>
                </a:solidFill>
                <a:latin typeface="Inter"/>
              </a:rPr>
              <a:t>z/OS Upgrade Workflow</a:t>
            </a:r>
            <a:r>
              <a:rPr sz="804" b="0" i="0">
                <a:solidFill>
                  <a:srgbClr val="BF360C"/>
                </a:solidFill>
                <a:latin typeface="Inter"/>
              </a:rPr>
              <a:t> in z/OSMF to generate a personalized deprecated-function checklist. All </a:t>
            </a:r>
            <a:r>
              <a:rPr sz="804" b="0" i="0">
                <a:solidFill>
                  <a:srgbClr val="BF360C"/>
                </a:solidFill>
                <a:latin typeface="Segoe UI Emoji"/>
              </a:rPr>
              <a:t>☐</a:t>
            </a:r>
            <a:r>
              <a:rPr sz="804" b="0" i="0">
                <a:solidFill>
                  <a:srgbClr val="BF360C"/>
                </a:solidFill>
                <a:latin typeface="Inter"/>
              </a:rPr>
              <a:t> items must be verified before first test IPL.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