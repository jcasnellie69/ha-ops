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</p:sldIdLst>
  <p:sldSz cx="12192000" cy="6858000" type="screen4x3"/>
  <p:notesSz cx="6858000" cy="9144000"/>
  <p:embeddedFontLst>
    <p:embeddedFont>
      <p:font typeface="Arvo" pitchFamily="2" charset="0"/>
      <p:regular r:id="rId11"/>
      <p:bold r:id="rId8"/>
      <p:italic r:id="rId10"/>
      <p:boldItalic r:id="rId9"/>
    </p:embeddedFont>
    <p:embeddedFont>
      <p:font typeface="Inter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Progress</c:v>
                </c:pt>
              </c:strCache>
            </c:strRef>
          </c:tx>
          <c:spPr>
            <a:solidFill>
              <a:srgbClr val="1976D2">
                <a:alpha val="10000"/>
              </a:srgbClr>
            </a:solidFill>
            <a:ln w="38100">
              <a:solidFill>
                <a:srgbClr val="1976D2"/>
              </a:solidFill>
            </a:ln>
          </c:spPr>
          <c:cat>
            <c:strRef>
              <c:f>Sheet1!$A$2:$A$6</c:f>
              <c:strCache>
                <c:ptCount val="5"/>
                <c:pt idx="0">
                  <c:v>Jan 2025</c:v>
                </c:pt>
                <c:pt idx="1">
                  <c:v>Mar 2025</c:v>
                </c:pt>
                <c:pt idx="2">
                  <c:v>Jun 2025</c:v>
                </c:pt>
                <c:pt idx="3">
                  <c:v>Sep 2025</c:v>
                </c:pt>
                <c:pt idx="4">
                  <c:v>Dec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marker>
            <c:size val="12"/>
            <c:spPr>
              <a:solidFill>
                <a:srgbClr val="1976D2"/>
              </a:solidFill>
              <a:ln w="25400">
                <a:solidFill>
                  <a:srgbClr val="FFFFFF"/>
                </a:solidFill>
              </a:ln>
            </c:spPr>
          </c:marker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100.0"/>
        </c:scaling>
        <c:delete val="0"/>
        <c:axPos val="l"/>
        <c:majorGridlines>
          <c:spPr>
            <a:ln w="12700">
              <a:solidFill>
                <a:srgbClr val="E5E5E5">
                  <a:alpha val="10000"/>
                </a:srgbClr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image" Target="../media/image74.png"/><Relationship Id="rId17" Type="http://schemas.openxmlformats.org/officeDocument/2006/relationships/image" Target="../media/image75.png"/><Relationship Id="rId18" Type="http://schemas.openxmlformats.org/officeDocument/2006/relationships/image" Target="../media/image76.png"/><Relationship Id="rId19" Type="http://schemas.openxmlformats.org/officeDocument/2006/relationships/image" Target="../media/image7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Relationship Id="rId10" Type="http://schemas.openxmlformats.org/officeDocument/2006/relationships/image" Target="../media/image91.png"/><Relationship Id="rId11" Type="http://schemas.openxmlformats.org/officeDocument/2006/relationships/image" Target="../media/image92.png"/><Relationship Id="rId12" Type="http://schemas.openxmlformats.org/officeDocument/2006/relationships/image" Target="../media/image93.png"/><Relationship Id="rId13" Type="http://schemas.openxmlformats.org/officeDocument/2006/relationships/image" Target="../media/image94.png"/><Relationship Id="rId14" Type="http://schemas.openxmlformats.org/officeDocument/2006/relationships/image" Target="../media/image95.png"/><Relationship Id="rId15" Type="http://schemas.openxmlformats.org/officeDocument/2006/relationships/image" Target="../media/image96.png"/><Relationship Id="rId16" Type="http://schemas.openxmlformats.org/officeDocument/2006/relationships/image" Target="../media/image97.png"/><Relationship Id="rId17" Type="http://schemas.openxmlformats.org/officeDocument/2006/relationships/image" Target="../media/image98.png"/><Relationship Id="rId18" Type="http://schemas.openxmlformats.org/officeDocument/2006/relationships/image" Target="../media/image99.png"/><Relationship Id="rId19" Type="http://schemas.openxmlformats.org/officeDocument/2006/relationships/image" Target="../media/image100.png"/><Relationship Id="rId20" Type="http://schemas.openxmlformats.org/officeDocument/2006/relationships/image" Target="../media/image101.png"/><Relationship Id="rId21" Type="http://schemas.openxmlformats.org/officeDocument/2006/relationships/image" Target="../media/image102.png"/><Relationship Id="rId22" Type="http://schemas.openxmlformats.org/officeDocument/2006/relationships/image" Target="../media/image103.png"/><Relationship Id="rId23" Type="http://schemas.openxmlformats.org/officeDocument/2006/relationships/image" Target="../media/image104.png"/><Relationship Id="rId24" Type="http://schemas.openxmlformats.org/officeDocument/2006/relationships/image" Target="../media/image105.png"/><Relationship Id="rId25" Type="http://schemas.openxmlformats.org/officeDocument/2006/relationships/image" Target="../media/image106.png"/><Relationship Id="rId26" Type="http://schemas.openxmlformats.org/officeDocument/2006/relationships/image" Target="../media/image107.png"/><Relationship Id="rId27" Type="http://schemas.openxmlformats.org/officeDocument/2006/relationships/image" Target="../media/image108.png"/><Relationship Id="rId28" Type="http://schemas.openxmlformats.org/officeDocument/2006/relationships/image" Target="../media/image109.png"/><Relationship Id="rId29" Type="http://schemas.openxmlformats.org/officeDocument/2006/relationships/image" Target="../media/image110.png"/><Relationship Id="rId30" Type="http://schemas.openxmlformats.org/officeDocument/2006/relationships/image" Target="../media/image111.png"/><Relationship Id="rId31" Type="http://schemas.openxmlformats.org/officeDocument/2006/relationships/image" Target="../media/image1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981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1666" y="2737544"/>
            <a:ext cx="9106263" cy="11421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44" b="1" i="0">
                <a:solidFill>
                  <a:srgbClr val="1976D2"/>
                </a:solidFill>
                <a:latin typeface="Arvo"/>
              </a:rPr>
              <a:t>z/OS 3.2 Roadmap: Modernizing</a:t>
            </a:r>
            <a:r>
              <a:rPr sz="3744" b="1" i="0">
                <a:solidFill>
                  <a:srgbClr val="1976D2"/>
                </a:solidFill>
                <a:latin typeface="Arvo"/>
              </a:rPr>
              <a:t> Mainframe for AI and Hybrid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3079" y="4135933"/>
            <a:ext cx="6725691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0">
                <a:solidFill>
                  <a:srgbClr val="333333"/>
                </a:solidFill>
                <a:latin typeface="Inter"/>
              </a:rPr>
              <a:t>Strategic Implementation Guide for Enterprise Mainframe 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6492" y="6076950"/>
            <a:ext cx="211901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D47A1"/>
                </a:solidFill>
                <a:latin typeface="Inter"/>
              </a:rPr>
              <a:t>IBM z/OS 3.2 Strategic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7517" y="6315075"/>
            <a:ext cx="95696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D47A1"/>
                </a:solidFill>
                <a:latin typeface="Inter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9093" y="304800"/>
            <a:ext cx="717366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Release Timeline &amp; Key Milestones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00237"/>
          <a:ext cx="5486400" cy="37719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7000" y="1504354"/>
            <a:ext cx="3636317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84" b="1" i="0">
                <a:solidFill>
                  <a:srgbClr val="1976D2"/>
                </a:solidFill>
                <a:latin typeface="Arvo"/>
              </a:rPr>
              <a:t>z/OS 3.2 Release Schedule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171700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53225" y="2161579"/>
            <a:ext cx="4649539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Inter"/>
              </a:rPr>
              <a:t>Q1 2025:</a:t>
            </a:r>
            <a:r>
              <a:rPr sz="1200" b="1" i="0">
                <a:solidFill>
                  <a:srgbClr val="1976D2"/>
                </a:solidFill>
                <a:latin typeface="Inter"/>
              </a:rPr>
              <a:t> Preview &amp; Early Access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- Technical preview available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for select customers and partners.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867025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38950" y="2854821"/>
            <a:ext cx="4393555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Inter"/>
              </a:rPr>
              <a:t>Q2 2025:</a:t>
            </a:r>
            <a:r>
              <a:rPr sz="1200" b="1" i="0">
                <a:solidFill>
                  <a:srgbClr val="1976D2"/>
                </a:solidFill>
                <a:latin typeface="Inter"/>
              </a:rPr>
              <a:t> Beta Testing Phase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- Comprehensive testing with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enterprise customers and system integrators.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3552825"/>
            <a:ext cx="2476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81800" y="3548062"/>
            <a:ext cx="4707582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Inter"/>
              </a:rPr>
              <a:t>September 2025:</a:t>
            </a:r>
            <a:r>
              <a:rPr sz="1200" b="1" i="0">
                <a:solidFill>
                  <a:srgbClr val="1976D2"/>
                </a:solidFill>
                <a:latin typeface="Inter"/>
              </a:rPr>
              <a:t> General Availability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- Full commercial release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with complete feature set and support.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4238625"/>
            <a:ext cx="238125" cy="238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81800" y="4241303"/>
            <a:ext cx="4674989" cy="4037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Inter"/>
              </a:rPr>
              <a:t>Q4 2025:</a:t>
            </a:r>
            <a:r>
              <a:rPr sz="1200" b="1" i="0">
                <a:solidFill>
                  <a:srgbClr val="1976D2"/>
                </a:solidFill>
                <a:latin typeface="Inter"/>
              </a:rPr>
              <a:t> Post-Launch Support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- Migration assistance, training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programs, and ongoing enhancements.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5038725"/>
            <a:ext cx="5029200" cy="800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91300" y="5153620"/>
            <a:ext cx="4205882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D47A1"/>
                </a:solidFill>
                <a:latin typeface="Inter"/>
              </a:rPr>
              <a:t>Key Insight: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z/OS 3.2 represents IBM's most significant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mainframe OS update, designed specifically for AI-driven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workloads and hybrid cloud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9933" y="304800"/>
            <a:ext cx="8491983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AI-Infused Capabilities &amp; IBM z17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35534"/>
            <a:ext cx="3653283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976D2"/>
                </a:solidFill>
                <a:latin typeface="Arvo"/>
              </a:rPr>
              <a:t>Revolutionary AI Integration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28900"/>
            <a:ext cx="200025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3890" y="2647950"/>
            <a:ext cx="5365015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Telum II processor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delivers hardware-accelerated AI with 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1ms response time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for real-time inferencing.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219450"/>
            <a:ext cx="2000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3890" y="3236118"/>
            <a:ext cx="5427374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AI-driven workload management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optimizes CPU usage and network batching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through intelligent pattern analysis.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810000"/>
            <a:ext cx="2000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890" y="3824287"/>
            <a:ext cx="5381089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AI threat detection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analyzes behavioral patterns to identify security threats in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real-time with automated containment.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400550"/>
            <a:ext cx="2000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3890" y="4412456"/>
            <a:ext cx="5214252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WLM Policy Advisor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provides AI-powered recommendations for optimizing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workload distribution and performance tuning.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076825"/>
            <a:ext cx="5715000" cy="504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0980" y="5174009"/>
            <a:ext cx="5482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1">
                <a:solidFill>
                  <a:srgbClr val="0D47A1"/>
                </a:solidFill>
                <a:latin typeface="Inter"/>
              </a:rPr>
              <a:t>Key Innovation:</a:t>
            </a:r>
            <a:r>
              <a:rPr sz="1080" b="0" i="1">
                <a:solidFill>
                  <a:srgbClr val="0D47A1"/>
                </a:solidFill>
                <a:latin typeface="Inter"/>
              </a:rPr>
              <a:t> z/OS 3.2 enables running both traditional and generative AI models</a:t>
            </a:r>
            <a:r>
              <a:rPr sz="1080" b="0" i="1">
                <a:solidFill>
                  <a:srgbClr val="0D47A1"/>
                </a:solidFill>
                <a:latin typeface="Inter"/>
              </a:rPr>
              <a:t> directly on sensitive data in-place, minimizing data movement risks.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114550"/>
            <a:ext cx="5791200" cy="3657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495550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915" y="304800"/>
            <a:ext cx="9262020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Enhanced z/OSMF Management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3266" y="2041326"/>
            <a:ext cx="6125467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76D2"/>
                </a:solidFill>
                <a:latin typeface="Arvo"/>
              </a:rPr>
              <a:t>Streamlined IT Management &amp; Automation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705100"/>
            <a:ext cx="2857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9750" y="2698551"/>
            <a:ext cx="7407324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6D2"/>
                </a:solidFill>
                <a:latin typeface="Inter"/>
              </a:rPr>
              <a:t>Automated Configuration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reduces manual steps required for software installations and system setup.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3219450"/>
            <a:ext cx="2000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24025" y="3209032"/>
            <a:ext cx="64451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6D2"/>
                </a:solidFill>
                <a:latin typeface="Inter"/>
              </a:rPr>
              <a:t>Data Administration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simplifies database management tasks with </a:t>
            </a:r>
            <a:r>
              <a:rPr sz="1200" b="1" i="0">
                <a:solidFill>
                  <a:srgbClr val="0D47A1"/>
                </a:solidFill>
                <a:latin typeface="Inter"/>
              </a:rPr>
              <a:t> intelligent automation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3714750"/>
            <a:ext cx="228600" cy="238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600" y="3719512"/>
            <a:ext cx="7484566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6D2"/>
                </a:solidFill>
                <a:latin typeface="Inter"/>
              </a:rPr>
              <a:t>Security Management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integrates RACF enhancements for streamlined access control and compliance.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4238625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2600" y="4229992"/>
            <a:ext cx="5701903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6D2"/>
                </a:solidFill>
                <a:latin typeface="Inter"/>
              </a:rPr>
              <a:t>Performance Monitoring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provides real-time insights with </a:t>
            </a:r>
            <a:r>
              <a:rPr sz="1200" b="1" i="0">
                <a:solidFill>
                  <a:srgbClr val="0D47A1"/>
                </a:solidFill>
                <a:latin typeface="Inter"/>
              </a:rPr>
              <a:t> AI-driven analytics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4838700"/>
            <a:ext cx="9296400" cy="609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5152" y="4959548"/>
            <a:ext cx="8877746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D47A1"/>
                </a:solidFill>
                <a:latin typeface="Inter"/>
              </a:rPr>
              <a:t>Key Benefit: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z/OSMF 3.2 reduces administrative overhead by up to 40% while improving system reliability and operational</a:t>
            </a:r>
            <a:r>
              <a:rPr sz="1200" b="0" i="1">
                <a:solidFill>
                  <a:srgbClr val="0D47A1"/>
                </a:solidFill>
                <a:latin typeface="Inter"/>
              </a:rPr>
              <a:t>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72444" y="304800"/>
            <a:ext cx="784711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Security &amp; Compliance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2130" y="2300287"/>
            <a:ext cx="195069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Security Features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771775"/>
            <a:ext cx="247650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6290" y="2774602"/>
            <a:ext cx="4713059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RACF User ID Containment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immediately stops user access to protected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resources during active sessions.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314700"/>
            <a:ext cx="2000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6290" y="3313955"/>
            <a:ext cx="4742229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Quantum-Safe Algorithms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implement NIST quantum-safe standards for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future-proof encryption protection.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848100"/>
            <a:ext cx="2000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6290" y="3853308"/>
            <a:ext cx="4747885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AI Threat Detection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analyzes behavioral patterns to identify and contain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security threats in real-time.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391025"/>
            <a:ext cx="20002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6290" y="4392662"/>
            <a:ext cx="4741485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31-bit ACEEs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support for third-party access control elements above 24-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bit storage line.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943475"/>
            <a:ext cx="2000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6290" y="4932015"/>
            <a:ext cx="4772888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Reusable ASID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prevents lost address space identifiers through improved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resource management.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925" y="2300287"/>
            <a:ext cx="230505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Compliance Benefits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771775"/>
            <a:ext cx="209550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13190" y="2774602"/>
            <a:ext cx="4748480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SOX Compliance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enhanced through automated audit trails and real-time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monitoring capabilities.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314700"/>
            <a:ext cx="200025" cy="2190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13190" y="3313955"/>
            <a:ext cx="4758154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GDPR Readiness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with advanced data protection and privacy controls for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European operations.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3848100"/>
            <a:ext cx="266700" cy="2190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13190" y="3853308"/>
            <a:ext cx="4289940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HIPAA Support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through enhanced encryption and access control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mechanisms for healthcare data.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4391025"/>
            <a:ext cx="209550" cy="2190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13190" y="4392662"/>
            <a:ext cx="4152423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PCI DSS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compliance strengthened with quantum-safe payment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processing capabilities.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4943475"/>
            <a:ext cx="238125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13190" y="4932015"/>
            <a:ext cx="4208234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Regulatory Reporting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simplified through automated compliance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monitoring and documentation.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66951" y="304800"/>
            <a:ext cx="5258097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Hybrid Cloud Integration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6425"/>
            <a:ext cx="5791200" cy="4124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57425"/>
            <a:ext cx="4876800" cy="3209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7400" y="2135534"/>
            <a:ext cx="3537495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976D2"/>
                </a:solidFill>
                <a:latin typeface="Arvo"/>
              </a:rPr>
              <a:t>Modern Cloud Connectivity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2638425"/>
            <a:ext cx="2476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41690" y="2647950"/>
            <a:ext cx="5307419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Modern APIs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enable seamless data access without costly ETL processes for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hybrid cloud environments.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3219450"/>
            <a:ext cx="2476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1690" y="3236118"/>
            <a:ext cx="5079712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Docker container support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with built-in networking from Communications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Server Sysplex Distributor.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7875" y="3810000"/>
            <a:ext cx="26670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41690" y="3824287"/>
            <a:ext cx="5012888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Automatic load balancing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routes traffic without external load balancers,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maintaining mainframe-level reliability.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7400" y="4400550"/>
            <a:ext cx="2000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41690" y="4412456"/>
            <a:ext cx="5411003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Real-time integration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allows applications to access mainframe data directly in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cloud-native architectures.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7400" y="5076825"/>
            <a:ext cx="5715000" cy="504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58780" y="5174009"/>
            <a:ext cx="5493216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1">
                <a:solidFill>
                  <a:srgbClr val="0D47A1"/>
                </a:solidFill>
                <a:latin typeface="Inter"/>
              </a:rPr>
              <a:t>Strategic Advantage:</a:t>
            </a:r>
            <a:r>
              <a:rPr sz="1080" b="0" i="1">
                <a:solidFill>
                  <a:srgbClr val="0D47A1"/>
                </a:solidFill>
                <a:latin typeface="Inter"/>
              </a:rPr>
              <a:t> z/OS 3.2 bridges traditional mainframe reliability with modern</a:t>
            </a:r>
            <a:r>
              <a:rPr sz="1080" b="0" i="1">
                <a:solidFill>
                  <a:srgbClr val="0D47A1"/>
                </a:solidFill>
                <a:latin typeface="Inter"/>
              </a:rPr>
              <a:t> cloud flexibility, enabling true hybrid architecture without compromising security.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5468" y="228600"/>
            <a:ext cx="8501062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i="0">
                <a:solidFill>
                  <a:srgbClr val="1976D2"/>
                </a:solidFill>
                <a:latin typeface="Arvo"/>
              </a:rPr>
              <a:t>Sys1.parmlib Settings Evolution (z/OS 2.1 </a:t>
            </a:r>
            <a:r>
              <a:rPr sz="2808" b="1" i="0">
                <a:solidFill>
                  <a:srgbClr val="1976D2"/>
                </a:solidFill>
                <a:latin typeface="Cambria Math"/>
              </a:rPr>
              <a:t>→ </a:t>
            </a:r>
            <a:r>
              <a:rPr sz="2808" b="1" i="0">
                <a:solidFill>
                  <a:srgbClr val="1976D2"/>
                </a:solidFill>
                <a:latin typeface="Arvo"/>
              </a:rPr>
              <a:t>3.2)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1333500"/>
            <a:ext cx="12039600" cy="32956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1523553"/>
          <a:ext cx="11582400" cy="28354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30400"/>
                <a:gridCol w="1930400"/>
                <a:gridCol w="1930400"/>
                <a:gridCol w="1930400"/>
                <a:gridCol w="1930400"/>
                <a:gridCol w="1930400"/>
              </a:tblGrid>
              <a:tr h="35443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z/OS 2.1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z/OS 2.4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z/OS 3.1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z/OS 3.2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Arvo"/>
                        </a:rPr>
                        <a:t>Key Changes</a:t>
                      </a:r>
                    </a:p>
                  </a:txBody>
                  <a:tcPr anchor="ctr">
                    <a:solidFill>
                      <a:srgbClr val="1976D2"/>
                    </a:solidFill>
                    <a:lnR w="9525" cmpd="sng">
                      <a:solidFill>
                        <a:srgbClr val="FFFFFF"/>
                      </a:solidFill>
                    </a:lnR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RACF_SUBSYS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Basic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Basic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Enhanced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REUSASID=YES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Reusable ASID support added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SETROPTS_RACLIST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+DSNRAUTH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DSNRAUTH class added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WLM_POLICY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Manual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Automated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AI-Assisted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AI-Advisor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WLM Policy Advisor integration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OSMF_CONFIG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Basic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Workflow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Advanced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Auto-Config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Automated configuration support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SECURITY_ZONES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Static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Static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Dynamic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AI-Threat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AI-driven threat detection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NETWORK_OPT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Standard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Optimized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F57C00"/>
                          </a:solidFill>
                          <a:latin typeface="Inter"/>
                        </a:rPr>
                        <a:t>Batching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AI-Batching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Intelligent packet batching</a:t>
                      </a:r>
                    </a:p>
                  </a:txBody>
                  <a:tcPr anchor="t">
                    <a:solidFill>
                      <a:srgbClr val="F8FAFD"/>
                    </a:solidFill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  <a:tr h="354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0D47A1"/>
                          </a:solidFill>
                          <a:latin typeface="Inter"/>
                        </a:rPr>
                        <a:t>QUANTUM_SAFE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616161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Preview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1" i="0">
                          <a:solidFill>
                            <a:srgbClr val="2E7D32"/>
                          </a:solidFill>
                          <a:latin typeface="Inter"/>
                        </a:rPr>
                        <a:t>NIST-PQC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19" b="0" i="0">
                          <a:solidFill>
                            <a:srgbClr val="333333"/>
                          </a:solidFill>
                          <a:latin typeface="Inter"/>
                        </a:rPr>
                        <a:t>Quantum-safe algorithms</a:t>
                      </a:r>
                    </a:p>
                  </a:txBody>
                  <a:tcPr anchor="t">
                    <a:lnR w="9525" cmpd="sng">
                      <a:solidFill>
                        <a:srgbClr val="E0E0E0"/>
                      </a:solidFill>
                    </a:lnR>
                    <a:lnB w="9525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4591050"/>
            <a:ext cx="3762375" cy="866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38796" y="4759076"/>
            <a:ext cx="291107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76D2"/>
                </a:solidFill>
                <a:latin typeface="Inter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3812" y="5138142"/>
            <a:ext cx="98107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Inter"/>
              </a:rPr>
              <a:t>New Parameters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575" y="4591050"/>
            <a:ext cx="3762375" cy="866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7469" y="4759076"/>
            <a:ext cx="296912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76D2"/>
                </a:solidFill>
                <a:latin typeface="Inter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7299" y="5138142"/>
            <a:ext cx="111710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Inter"/>
              </a:rPr>
              <a:t>Enhanced Settings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825" y="4591050"/>
            <a:ext cx="3762375" cy="8667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93771" y="4759076"/>
            <a:ext cx="627459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76D2"/>
                </a:solidFill>
                <a:latin typeface="Inter"/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4740" y="5138142"/>
            <a:ext cx="130537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Inter"/>
              </a:rPr>
              <a:t>Backward Compatible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5610225"/>
            <a:ext cx="1158240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8120" y="5726757"/>
            <a:ext cx="1283791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333333"/>
                </a:solidFill>
                <a:latin typeface="Inter"/>
              </a:rPr>
              <a:t>Migration Guidance: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1912" y="5726757"/>
            <a:ext cx="910991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 Most z/OS 3.2 parmlib enhancements are backward compatible. Review AI-related and quantum-safe parameters for new deployment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9813" y="304800"/>
            <a:ext cx="851222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Performance &amp; Scalability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8858" y="1529506"/>
            <a:ext cx="2834282" cy="1104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1976D2"/>
                </a:solidFill>
                <a:latin typeface="Arvo"/>
              </a:rPr>
              <a:t>450B+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2852" y="2691556"/>
            <a:ext cx="4166294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D47A1"/>
                </a:solidFill>
                <a:latin typeface="Inter"/>
              </a:rPr>
              <a:t>Daily AI Inferencing Operations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143250"/>
            <a:ext cx="3305175" cy="2066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40793" y="3558331"/>
            <a:ext cx="811113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76D2"/>
                </a:solidFill>
                <a:latin typeface="Arvo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5487" y="4110781"/>
            <a:ext cx="1974115" cy="5863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Reduction in 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administrative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overhead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through z/OSMF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automation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175" y="3143250"/>
            <a:ext cx="3305175" cy="20669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6934" y="3558331"/>
            <a:ext cx="757832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76D2"/>
                </a:solidFill>
                <a:latin typeface="Arvo"/>
              </a:rPr>
              <a:t>1ms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3801" y="4110781"/>
            <a:ext cx="2396638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D47A1"/>
                </a:solidFill>
                <a:latin typeface="Inter"/>
              </a:rPr>
              <a:t>Response time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for AI-accelerated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workload decisions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425" y="3143250"/>
            <a:ext cx="3305175" cy="2066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53189" y="3558331"/>
            <a:ext cx="784621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976D2"/>
                </a:solidFill>
                <a:latin typeface="Arvo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004" y="4110781"/>
            <a:ext cx="2397382" cy="5863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Improvement in 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network</a:t>
            </a:r>
            <a:r>
              <a:rPr sz="1139" b="1" i="0">
                <a:solidFill>
                  <a:srgbClr val="0D47A1"/>
                </a:solidFill>
                <a:latin typeface="Inter"/>
              </a:rPr>
              <a:t> throughput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with intelligent packet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batching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5476875"/>
            <a:ext cx="8534400" cy="704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65759" y="5623768"/>
            <a:ext cx="7744152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1">
                <a:solidFill>
                  <a:srgbClr val="0D47A1"/>
                </a:solidFill>
                <a:latin typeface="Inter"/>
              </a:rPr>
              <a:t>Performance Breakthrough:</a:t>
            </a:r>
            <a:r>
              <a:rPr sz="1320" b="0" i="1">
                <a:solidFill>
                  <a:srgbClr val="0D47A1"/>
                </a:solidFill>
                <a:latin typeface="Inter"/>
              </a:rPr>
              <a:t> z/OS 3.2 delivers unprecedented scalability with Telum II processor</a:t>
            </a:r>
            <a:r>
              <a:rPr sz="1320" b="0" i="1">
                <a:solidFill>
                  <a:srgbClr val="0D47A1"/>
                </a:solidFill>
                <a:latin typeface="Inter"/>
              </a:rPr>
              <a:t> enabling real-time AI processing while maintaining mainframe-class reliability and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8030" y="304800"/>
            <a:ext cx="799579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Implementation Roadmap &amp; Next Steps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33500"/>
            <a:ext cx="3914775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7091" y="1747837"/>
            <a:ext cx="263916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Implementation Phases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228850"/>
            <a:ext cx="1809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160" y="2222152"/>
            <a:ext cx="2642324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D47A1"/>
                </a:solidFill>
                <a:latin typeface="Inter"/>
              </a:rPr>
              <a:t>Q1 2025: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Assessment and planning phase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with current system evaluation.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752725"/>
            <a:ext cx="2286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160" y="2741562"/>
            <a:ext cx="2792045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D47A1"/>
                </a:solidFill>
                <a:latin typeface="Inter"/>
              </a:rPr>
              <a:t>Q2 2025: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Beta testing participation and staff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training programs.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3267075"/>
            <a:ext cx="2000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160" y="3260973"/>
            <a:ext cx="2701855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D47A1"/>
                </a:solidFill>
                <a:latin typeface="Inter"/>
              </a:rPr>
              <a:t>Q3 2025: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Production deployment following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GA release in September.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800475"/>
            <a:ext cx="1905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160" y="3780383"/>
            <a:ext cx="2422653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D47A1"/>
                </a:solidFill>
                <a:latin typeface="Inter"/>
              </a:rPr>
              <a:t>Q4 2025: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Optimization and full feature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exploitation phase.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3375" y="1333500"/>
            <a:ext cx="3914775" cy="422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99298" y="1747837"/>
            <a:ext cx="199325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Preparation Steps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0575" y="2228850"/>
            <a:ext cx="1809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6261" y="2222152"/>
            <a:ext cx="2540525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976D2"/>
                </a:solidFill>
                <a:latin typeface="Inter"/>
              </a:rPr>
              <a:t>Hardware Assessment: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Verify IBM z17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compatibility and upgrade requirements.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0575" y="2752725"/>
            <a:ext cx="2286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56261" y="2741562"/>
            <a:ext cx="2719119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976D2"/>
                </a:solidFill>
                <a:latin typeface="Inter"/>
              </a:rPr>
              <a:t>Team Training: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Enroll system programmers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in z/OS 3.2 certification programs.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0575" y="3267075"/>
            <a:ext cx="18097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56261" y="3260973"/>
            <a:ext cx="2720310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976D2"/>
                </a:solidFill>
                <a:latin typeface="Inter"/>
              </a:rPr>
              <a:t>Parmlib Review: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Audit current Sys1.parmlib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settings for migration compatibility.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0575" y="3790950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6261" y="3780383"/>
            <a:ext cx="2326213" cy="4890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976D2"/>
                </a:solidFill>
                <a:latin typeface="Inter"/>
              </a:rPr>
              <a:t>Security Planning: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Prepare for RACF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enhancements and quantum-safe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implementation.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96225" y="1333500"/>
            <a:ext cx="3914775" cy="4229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979396" y="1747837"/>
            <a:ext cx="175140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Success Factors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3425" y="2238375"/>
            <a:ext cx="228600" cy="1809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15511" y="2222152"/>
            <a:ext cx="2403603" cy="4890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E7D32"/>
                </a:solidFill>
                <a:latin typeface="Inter"/>
              </a:rPr>
              <a:t>Executive Support: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Ensure leadership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commitment for AI and hybrid cloud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initiatives.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3900" y="2924175"/>
            <a:ext cx="238125" cy="1809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15511" y="2909887"/>
            <a:ext cx="2383065" cy="4890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E7D32"/>
                </a:solidFill>
                <a:latin typeface="Inter"/>
              </a:rPr>
              <a:t>Skills Development: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Invest in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comprehensive training for AI-infused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capabilities.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53425" y="3609975"/>
            <a:ext cx="190500" cy="1809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15511" y="3597622"/>
            <a:ext cx="2636817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E7D32"/>
                </a:solidFill>
                <a:latin typeface="Inter"/>
              </a:rPr>
              <a:t>Phased Approach: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Implement features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incrementally to minimize operational risk.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53425" y="4124325"/>
            <a:ext cx="19050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15511" y="4117032"/>
            <a:ext cx="2708701" cy="4890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E7D32"/>
                </a:solidFill>
                <a:latin typeface="Inter"/>
              </a:rPr>
              <a:t>Clear Objectives: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Define measurable goals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for performance and efficiency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improvements.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5524500"/>
            <a:ext cx="11277600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4422" y="5672137"/>
            <a:ext cx="206945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D47A1"/>
                </a:solidFill>
                <a:latin typeface="Inter"/>
              </a:rPr>
              <a:t>Strategic Recommendation: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3877" y="5672137"/>
            <a:ext cx="84518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0D47A1"/>
                </a:solidFill>
                <a:latin typeface="Inter"/>
              </a:rPr>
              <a:t> z/OS 3.2 represents a transformational opportunity to modernize mainframe operations while maintaining enterprise-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5401" y="5862637"/>
            <a:ext cx="817914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0D47A1"/>
                </a:solidFill>
                <a:latin typeface="Inter"/>
              </a:rPr>
              <a:t>grade reliability and security. Early adoption will provide competitive advantages in AI-driven business processes.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90328" y="228600"/>
            <a:ext cx="7411194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976D2"/>
                </a:solidFill>
                <a:latin typeface="Arvo"/>
              </a:rPr>
              <a:t>SYS1.PARMLIB Critical Changes: z/OS 2.5 </a:t>
            </a:r>
            <a:r>
              <a:rPr sz="2400" b="1" i="0">
                <a:solidFill>
                  <a:srgbClr val="1976D2"/>
                </a:solidFill>
                <a:latin typeface="Cambria Math"/>
              </a:rPr>
              <a:t>→ </a:t>
            </a:r>
            <a:r>
              <a:rPr sz="2400" b="1" i="0">
                <a:solidFill>
                  <a:srgbClr val="1976D2"/>
                </a:solidFill>
                <a:latin typeface="Arvo"/>
              </a:rPr>
              <a:t>3.1 </a:t>
            </a:r>
            <a:r>
              <a:rPr sz="2400" b="1" i="0">
                <a:solidFill>
                  <a:srgbClr val="1976D2"/>
                </a:solidFill>
                <a:latin typeface="Cambria Math"/>
              </a:rPr>
              <a:t>→ </a:t>
            </a:r>
            <a:r>
              <a:rPr sz="2400" b="1" i="0">
                <a:solidFill>
                  <a:srgbClr val="1976D2"/>
                </a:solidFill>
                <a:latin typeface="Arvo"/>
              </a:rPr>
              <a:t>3.2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810" y="5722739"/>
            <a:ext cx="2667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089" y="5722739"/>
            <a:ext cx="2667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368" y="5722739"/>
            <a:ext cx="266700" cy="152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1556444"/>
          <a:ext cx="11582398" cy="40900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01713"/>
                <a:gridCol w="1286916"/>
                <a:gridCol w="4118223"/>
                <a:gridCol w="1286916"/>
                <a:gridCol w="3088630"/>
              </a:tblGrid>
              <a:tr h="34084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Member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Version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Key Change / Parameter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Priority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FFFFFF"/>
                          </a:solidFill>
                          <a:latin typeface="Arvo"/>
                        </a:rPr>
                        <a:t>Focus Area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BPXPRMxx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Microsoft YaHei"/>
                        </a:rPr>
                        <a:t>HFS params deleted (BUFFERMONITOR, FIXED, RNODEWAIT…); REXXPARSE added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00695C"/>
                          </a:solidFill>
                          <a:latin typeface="Inter"/>
                        </a:rPr>
                        <a:t>Hybrid Cloud / AI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IEAOPTxx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CPENABLE default changed to SYSTEM (was OFF in 2.5 &amp; 3.1)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6A1B9A"/>
                          </a:solidFill>
                          <a:latin typeface="Inter"/>
                        </a:rPr>
                        <a:t>AI Workloads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IEASYSxx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E65100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REAL= introduced to replace VRREGN/VREALSZ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4E342E"/>
                          </a:solidFill>
                          <a:latin typeface="Inter"/>
                        </a:rPr>
                        <a:t>Core / AI Memory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IEASYSxx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Microsoft YaHei"/>
                        </a:rPr>
                        <a:t>VRREGN / VREALSZ fully removed — IPL failure if present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4E342E"/>
                          </a:solidFill>
                          <a:latin typeface="Inter"/>
                        </a:rPr>
                        <a:t>Core / AI Memory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CSFPRMxx (ICSF)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NIST PQC GA: ML-KEM-768, ML-DSA-65, SLH-DSA; PKCS11SUPPORT(ENABLE)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🔴</a:t>
                      </a:r>
                      <a:r>
                        <a:rPr sz="900" b="1" i="0">
                          <a:solidFill>
                            <a:srgbClr val="C62828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1565C0"/>
                          </a:solidFill>
                          <a:latin typeface="Inter"/>
                        </a:rPr>
                        <a:t>Quantum-Safe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IARPRMxx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New: RESTRICTPFTCADS, ARR2V_REQAUTH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🟡</a:t>
                      </a: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 Important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6A1B9A"/>
                          </a:solidFill>
                          <a:latin typeface="Inter"/>
                        </a:rPr>
                        <a:t>AI / Security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IRRPRMxx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REUSASID=YES recommended; RACF User ID Containment; DSNRAUTH class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🟡</a:t>
                      </a: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 Important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1565C0"/>
                          </a:solidFill>
                          <a:latin typeface="Inter"/>
                        </a:rPr>
                        <a:t>Security / QSC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DIAGxx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Microsoft YaHei"/>
                        </a:rPr>
                        <a:t>New: ASCBV31 — ASCB 31-bit storage placement on START/ASCRE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🟡</a:t>
                      </a: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 Important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4E342E"/>
                          </a:solidFill>
                          <a:latin typeface="Inter"/>
                        </a:rPr>
                        <a:t>Core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SMFLIMxx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New: CHECKREGIONBELOW, CHECKREGIONABOVE, IGNOREIEFUSI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🟡</a:t>
                      </a:r>
                      <a:r>
                        <a:rPr sz="900" b="1" i="0">
                          <a:solidFill>
                            <a:srgbClr val="E65100"/>
                          </a:solidFill>
                          <a:latin typeface="Inter"/>
                        </a:rPr>
                        <a:t> Important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6A1B9A"/>
                          </a:solidFill>
                          <a:latin typeface="Inter"/>
                        </a:rPr>
                        <a:t>AI Workloads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CTnBPXxx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BUFSIZE max increased to 2047 MB (was ~256 MB in 2.5)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2E7D32"/>
                          </a:solidFill>
                          <a:latin typeface="Inter"/>
                        </a:rPr>
                        <a:t>🟢</a:t>
                      </a:r>
                      <a:r>
                        <a:rPr sz="900" b="1" i="0">
                          <a:solidFill>
                            <a:srgbClr val="2E7D32"/>
                          </a:solidFill>
                          <a:latin typeface="Inter"/>
                        </a:rPr>
                        <a:t> Beneficial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6A1B9A"/>
                          </a:solidFill>
                          <a:latin typeface="Inter"/>
                        </a:rPr>
                        <a:t>AI / Cloud</a:t>
                      </a:r>
                    </a:p>
                  </a:txBody>
                  <a:tcPr anchor="ctr">
                    <a:solidFill>
                      <a:srgbClr val="EEF5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  <a:tr h="3408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0D47A1"/>
                          </a:solidFill>
                          <a:latin typeface="Courier New"/>
                        </a:rPr>
                        <a:t>IZUPRMxx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2E7D32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0">
                          <a:solidFill>
                            <a:srgbClr val="333333"/>
                          </a:solidFill>
                          <a:latin typeface="Inter"/>
                        </a:rPr>
                        <a:t>New z/OSMF automation workflows; AUTOCONFIG(ENABLE)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 i="0">
                          <a:solidFill>
                            <a:srgbClr val="2E7D32"/>
                          </a:solidFill>
                          <a:latin typeface="Inter"/>
                        </a:rPr>
                        <a:t>🟢</a:t>
                      </a:r>
                      <a:r>
                        <a:rPr sz="900" b="1" i="0">
                          <a:solidFill>
                            <a:srgbClr val="2E7D32"/>
                          </a:solidFill>
                          <a:latin typeface="Inter"/>
                        </a:rPr>
                        <a:t> Beneficial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1" i="0">
                          <a:solidFill>
                            <a:srgbClr val="00695C"/>
                          </a:solidFill>
                          <a:latin typeface="Inter"/>
                        </a:rPr>
                        <a:t>Hybrid Cloud</a:t>
                      </a:r>
                    </a:p>
                  </a:txBody>
                  <a:tcPr anchor="ctr">
                    <a:solidFill>
                      <a:srgbClr val="F8FBFF"/>
                    </a:solidFill>
                    <a:lnB w="9525" cmpd="sng">
                      <a:solidFill>
                        <a:srgbClr val="BBDEF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29681" y="5745509"/>
            <a:ext cx="15254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565C0"/>
                </a:solidFill>
                <a:latin typeface="Inter"/>
              </a:rPr>
              <a:t>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8791" y="5735984"/>
            <a:ext cx="4446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z/OS 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960" y="5745509"/>
            <a:ext cx="15254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E65100"/>
                </a:solidFill>
                <a:latin typeface="Inter"/>
              </a:rPr>
              <a:t>3.1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2070" y="5735984"/>
            <a:ext cx="4446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z/OS 3.1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6239" y="5745509"/>
            <a:ext cx="15254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E7D32"/>
                </a:solidFill>
                <a:latin typeface="Inter"/>
              </a:rPr>
              <a:t>3.2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349" y="5735984"/>
            <a:ext cx="4446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z/OS 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8647" y="5735984"/>
            <a:ext cx="6905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A1B9A"/>
                </a:solidFill>
                <a:latin typeface="Inter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3394" y="5735984"/>
            <a:ext cx="67761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AI Workloads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9608" y="5735984"/>
            <a:ext cx="6905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65C0"/>
                </a:solidFill>
                <a:latin typeface="Inter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4355" y="5735984"/>
            <a:ext cx="7433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Quantum-Safe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6351" y="5735984"/>
            <a:ext cx="6905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695C"/>
                </a:solidFill>
                <a:latin typeface="Inter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1098" y="5735984"/>
            <a:ext cx="6607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Hybrid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0494" y="5735984"/>
            <a:ext cx="6905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342E"/>
                </a:solidFill>
                <a:latin typeface="Inter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241" y="5735984"/>
            <a:ext cx="2477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62873"/>
            <a:ext cx="121920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15691" y="228600"/>
            <a:ext cx="6360467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976D2"/>
                </a:solidFill>
                <a:latin typeface="Arvo"/>
              </a:rPr>
              <a:t>Migration Actions: PARMLIB Priority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1275" y="6633269"/>
            <a:ext cx="8269597" cy="1623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1">
                <a:solidFill>
                  <a:srgbClr val="0D47A1"/>
                </a:solidFill>
                <a:latin typeface="Inter"/>
              </a:rPr>
              <a:t>Recommended tool:</a:t>
            </a:r>
            <a:r>
              <a:rPr sz="936" b="0" i="1">
                <a:solidFill>
                  <a:srgbClr val="0D47A1"/>
                </a:solidFill>
                <a:latin typeface="Inter"/>
              </a:rPr>
              <a:t> Run z/OS Upgrade Workflow in z/OSMF to generate a personalized PARMLIB checklist for your specific installation configuration.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651694"/>
            <a:ext cx="370522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055316"/>
            <a:ext cx="3705225" cy="952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60" y="2794694"/>
            <a:ext cx="344805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106935"/>
            <a:ext cx="3705225" cy="800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460" y="3691830"/>
            <a:ext cx="344805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004071"/>
            <a:ext cx="3705225" cy="952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460" y="4743450"/>
            <a:ext cx="344805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5055691"/>
            <a:ext cx="3705225" cy="952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460" y="5795069"/>
            <a:ext cx="3448050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5226" y="1712565"/>
            <a:ext cx="212749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Segoe UI Emoji"/>
              </a:rPr>
              <a:t>🔴</a:t>
            </a:r>
            <a:r>
              <a:rPr sz="1260" b="1" i="0">
                <a:solidFill>
                  <a:srgbClr val="FFFFFF"/>
                </a:solidFill>
                <a:latin typeface="Arvo"/>
              </a:rPr>
              <a:t> Critical — Before First IPL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460" y="2131516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BPXPRMxx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460" y="2295227"/>
            <a:ext cx="3410057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Remove all HFS params (BUFFERMONITOR, FIXED,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RNODEWAIT, SYNCDEFAULT, WAITABEND, VIRTUAL). Add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REXXPARSE if using REXX automation.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741" y="2809875"/>
            <a:ext cx="65037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00695C"/>
                </a:solidFill>
                <a:latin typeface="Inter"/>
              </a:rPr>
              <a:t>Hybrid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460" y="318313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IEASYSxx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460" y="3346846"/>
            <a:ext cx="3593242" cy="2878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Replace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VRREGN= / VREALSZ=</a:t>
            </a:r>
            <a:r>
              <a:rPr sz="936" b="0" i="0">
                <a:solidFill>
                  <a:srgbClr val="333333"/>
                </a:solidFill>
                <a:latin typeface="Inter"/>
              </a:rPr>
              <a:t> with </a:t>
            </a:r>
            <a:r>
              <a:rPr sz="936" b="1" i="0">
                <a:solidFill>
                  <a:srgbClr val="1976D2"/>
                </a:solidFill>
                <a:latin typeface="Inter"/>
              </a:rPr>
              <a:t>REAL=nnnM</a:t>
            </a:r>
            <a:r>
              <a:rPr sz="936" b="0" i="0">
                <a:solidFill>
                  <a:srgbClr val="333333"/>
                </a:solidFill>
                <a:latin typeface="Inter"/>
              </a:rPr>
              <a:t> . Leaving old</a:t>
            </a:r>
            <a:r>
              <a:rPr sz="936" b="0" i="0">
                <a:solidFill>
                  <a:srgbClr val="333333"/>
                </a:solidFill>
                <a:latin typeface="Inter"/>
              </a:rPr>
              <a:t> params causes IPL failure on 3.2.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741" y="3707010"/>
            <a:ext cx="23604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BF360C"/>
                </a:solidFill>
                <a:latin typeface="Inter"/>
              </a:rPr>
              <a:t>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460" y="4080271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IEAOPTxx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460" y="4243982"/>
            <a:ext cx="3339542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Test </a:t>
            </a:r>
            <a:r>
              <a:rPr sz="936" b="1" i="0">
                <a:solidFill>
                  <a:srgbClr val="1976D2"/>
                </a:solidFill>
                <a:latin typeface="Inter"/>
              </a:rPr>
              <a:t>CPENABLE=SYSTEM</a:t>
            </a:r>
            <a:r>
              <a:rPr sz="936" b="0" i="0">
                <a:solidFill>
                  <a:srgbClr val="333333"/>
                </a:solidFill>
                <a:latin typeface="Inter"/>
              </a:rPr>
              <a:t> (new default) in non-prod LPAR.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Review WLM service definitions and capacity automation for</a:t>
            </a:r>
            <a:r>
              <a:rPr sz="936" b="0" i="0">
                <a:solidFill>
                  <a:srgbClr val="333333"/>
                </a:solidFill>
                <a:latin typeface="Inter"/>
              </a:rPr>
              <a:t> conflicts.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741" y="4758630"/>
            <a:ext cx="66005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Workloads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460" y="5131891"/>
            <a:ext cx="98747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CSFPRMxx (ICSF)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460" y="5295602"/>
            <a:ext cx="3591402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Enable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PKCS11SUPPORT(ENABLE)</a:t>
            </a:r>
            <a:r>
              <a:rPr sz="936" b="0" i="0">
                <a:solidFill>
                  <a:srgbClr val="333333"/>
                </a:solidFill>
                <a:latin typeface="Inter"/>
              </a:rPr>
              <a:t> . Set</a:t>
            </a:r>
            <a:r>
              <a:rPr sz="936" b="0" i="0">
                <a:solidFill>
                  <a:srgbClr val="333333"/>
                </a:solidFill>
                <a:latin typeface="Inter"/>
              </a:rPr>
              <a:t> FIPSMODE(COMPAT). Activate ML-KEM-768, ML-DSA-65, SLH-</a:t>
            </a:r>
            <a:r>
              <a:rPr sz="936" b="0" i="0">
                <a:solidFill>
                  <a:srgbClr val="333333"/>
                </a:solidFill>
                <a:latin typeface="Inter"/>
              </a:rPr>
              <a:t> DSA alongside classical algorithms.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741" y="5810250"/>
            <a:ext cx="707975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565C0"/>
                </a:solidFill>
                <a:latin typeface="Inter"/>
              </a:rPr>
              <a:t>Quantum-Safe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1750" y="1651694"/>
            <a:ext cx="3705225" cy="304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41750" y="2055316"/>
            <a:ext cx="3705225" cy="952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6411" y="2794694"/>
            <a:ext cx="344805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41750" y="3106935"/>
            <a:ext cx="3705225" cy="952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6411" y="3846314"/>
            <a:ext cx="344805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41750" y="4158555"/>
            <a:ext cx="3705225" cy="8001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86411" y="4743450"/>
            <a:ext cx="344805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41750" y="5055691"/>
            <a:ext cx="3705225" cy="8001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86411" y="5640585"/>
            <a:ext cx="3448050" cy="1428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875907" y="1712565"/>
            <a:ext cx="2440185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Segoe UI Emoji"/>
              </a:rPr>
              <a:t>🟡</a:t>
            </a:r>
            <a:r>
              <a:rPr sz="1260" b="1" i="0">
                <a:solidFill>
                  <a:srgbClr val="FFFFFF"/>
                </a:solidFill>
                <a:latin typeface="Arvo"/>
              </a:rPr>
              <a:t> Important — Before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6411" y="2131516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IRRPRMxx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6411" y="2295227"/>
            <a:ext cx="3498047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Add </a:t>
            </a:r>
            <a:r>
              <a:rPr sz="936" b="1" i="0">
                <a:solidFill>
                  <a:srgbClr val="1976D2"/>
                </a:solidFill>
                <a:latin typeface="Inter"/>
              </a:rPr>
              <a:t>REUSASID=YES</a:t>
            </a:r>
            <a:r>
              <a:rPr sz="936" b="0" i="0">
                <a:solidFill>
                  <a:srgbClr val="333333"/>
                </a:solidFill>
                <a:latin typeface="Inter"/>
              </a:rPr>
              <a:t> to RACF START command. Enable User</a:t>
            </a:r>
            <a:r>
              <a:rPr sz="936" b="0" i="0">
                <a:solidFill>
                  <a:srgbClr val="333333"/>
                </a:solidFill>
                <a:latin typeface="Inter"/>
              </a:rPr>
              <a:t> ID Containment (APAR OA67286). Add DSNRAUTH to</a:t>
            </a:r>
            <a:r>
              <a:rPr sz="936" b="0" i="0">
                <a:solidFill>
                  <a:srgbClr val="333333"/>
                </a:solidFill>
                <a:latin typeface="Inter"/>
              </a:rPr>
              <a:t> SETROPTS RACLIST.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9691" y="2809875"/>
            <a:ext cx="40883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565C0"/>
                </a:solidFill>
                <a:latin typeface="Inter"/>
              </a:rPr>
              <a:t>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6411" y="318313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IARPRMxx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6411" y="3346846"/>
            <a:ext cx="3358857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Set </a:t>
            </a:r>
            <a:r>
              <a:rPr sz="936" b="1" i="0">
                <a:solidFill>
                  <a:srgbClr val="1976D2"/>
                </a:solidFill>
                <a:latin typeface="Inter"/>
              </a:rPr>
              <a:t>RESTRICTPFTCADS</a:t>
            </a:r>
            <a:r>
              <a:rPr sz="936" b="0" i="0">
                <a:solidFill>
                  <a:srgbClr val="333333"/>
                </a:solidFill>
                <a:latin typeface="Inter"/>
              </a:rPr>
              <a:t> to restrict PTFCADS to OS only.</a:t>
            </a:r>
            <a:r>
              <a:rPr sz="936" b="0" i="0">
                <a:solidFill>
                  <a:srgbClr val="333333"/>
                </a:solidFill>
                <a:latin typeface="Inter"/>
              </a:rPr>
              <a:t> Evaluate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ARR2V_REQAUTH</a:t>
            </a:r>
            <a:r>
              <a:rPr sz="936" b="0" i="0">
                <a:solidFill>
                  <a:srgbClr val="333333"/>
                </a:solidFill>
                <a:latin typeface="Inter"/>
              </a:rPr>
              <a:t> to protect AI inference memory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regions.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9691" y="3861494"/>
            <a:ext cx="598735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/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411" y="423475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SMFLIMxx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6411" y="4398466"/>
            <a:ext cx="3541735" cy="3252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Configure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CHECKREGIONABOVE</a:t>
            </a:r>
            <a:r>
              <a:rPr sz="936" b="0" i="0">
                <a:solidFill>
                  <a:srgbClr val="333333"/>
                </a:solidFill>
                <a:latin typeface="Inter"/>
              </a:rPr>
              <a:t> to cap AI workload memory.</a:t>
            </a:r>
            <a:r>
              <a:rPr sz="936" b="0" i="0">
                <a:solidFill>
                  <a:srgbClr val="333333"/>
                </a:solidFill>
                <a:latin typeface="Inter"/>
              </a:rPr>
              <a:t> Use IGNOREIEFUSI where IEFUSI exit conflicts with new limits.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9691" y="4758630"/>
            <a:ext cx="66005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Workloads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6411" y="5131891"/>
            <a:ext cx="39498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DIAGxx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6411" y="5295602"/>
            <a:ext cx="3211542" cy="3554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Set </a:t>
            </a:r>
            <a:r>
              <a:rPr sz="936" b="1" i="0">
                <a:solidFill>
                  <a:srgbClr val="1976D2"/>
                </a:solidFill>
                <a:latin typeface="Inter"/>
              </a:rPr>
              <a:t>ASCBV31</a:t>
            </a:r>
            <a:r>
              <a:rPr sz="936" b="0" i="0">
                <a:solidFill>
                  <a:srgbClr val="333333"/>
                </a:solidFill>
                <a:latin typeface="Inter"/>
              </a:rPr>
              <a:t> explicitly. Default behavior differs from prior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releases; test in isolated LPAR before production IPL.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9691" y="5655766"/>
            <a:ext cx="23604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BF360C"/>
                </a:solidFill>
                <a:latin typeface="Inter"/>
              </a:rPr>
              <a:t>Core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78849" y="1651694"/>
            <a:ext cx="3705225" cy="3048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78849" y="2055316"/>
            <a:ext cx="3705225" cy="9525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23510" y="2794694"/>
            <a:ext cx="3448050" cy="1428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78849" y="3106935"/>
            <a:ext cx="3705225" cy="9525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23510" y="3846314"/>
            <a:ext cx="3448050" cy="1428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78849" y="4158555"/>
            <a:ext cx="3705225" cy="9525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23510" y="4897933"/>
            <a:ext cx="3448050" cy="1428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78849" y="5210175"/>
            <a:ext cx="3705225" cy="9525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23510" y="5949553"/>
            <a:ext cx="3448050" cy="14287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607921" y="1712565"/>
            <a:ext cx="285020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Segoe UI Emoji"/>
              </a:rPr>
              <a:t>🟢</a:t>
            </a:r>
            <a:r>
              <a:rPr sz="1260" b="1" i="0">
                <a:solidFill>
                  <a:srgbClr val="FFFFFF"/>
                </a:solidFill>
                <a:latin typeface="Arvo"/>
              </a:rPr>
              <a:t> Beneficial — Exploit New Capabilities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3510" y="2131516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CTnBPXxx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3510" y="2295227"/>
            <a:ext cx="3420481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Increase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BUFSIZE</a:t>
            </a:r>
            <a:r>
              <a:rPr sz="936" b="0" i="0">
                <a:solidFill>
                  <a:srgbClr val="333333"/>
                </a:solidFill>
                <a:latin typeface="Inter"/>
              </a:rPr>
              <a:t> up to 2047 MB for AI model data and large</a:t>
            </a:r>
            <a:r>
              <a:rPr sz="936" b="0" i="0">
                <a:solidFill>
                  <a:srgbClr val="333333"/>
                </a:solidFill>
                <a:latin typeface="Inter"/>
              </a:rPr>
              <a:t> UNIX workloads. Validate with AI framework memory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requirements.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6791" y="2809875"/>
            <a:ext cx="483393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/ Cloud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3510" y="318313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IZUPRMxx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3510" y="3346846"/>
            <a:ext cx="3562890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Enable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AUTOCONFIG(ENABLE)</a:t>
            </a:r>
            <a:r>
              <a:rPr sz="936" b="0" i="0">
                <a:solidFill>
                  <a:srgbClr val="333333"/>
                </a:solidFill>
                <a:latin typeface="Inter"/>
              </a:rPr>
              <a:t> for new z/OSMF automation</a:t>
            </a:r>
            <a:r>
              <a:rPr sz="936" b="0" i="0">
                <a:solidFill>
                  <a:srgbClr val="333333"/>
                </a:solidFill>
                <a:latin typeface="Inter"/>
              </a:rPr>
              <a:t> workflows. Reduces software install and OS config manual steps</a:t>
            </a:r>
            <a:r>
              <a:rPr sz="936" b="0" i="0">
                <a:solidFill>
                  <a:srgbClr val="333333"/>
                </a:solidFill>
                <a:latin typeface="Inter"/>
              </a:rPr>
              <a:t> by ~40%.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76791" y="3861494"/>
            <a:ext cx="65037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00695C"/>
                </a:solidFill>
                <a:latin typeface="Inter"/>
              </a:rPr>
              <a:t>Hybrid Cloud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3510" y="423475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WLMPRMxx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3510" y="4398466"/>
            <a:ext cx="3318234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Define dedicated service classes for AI inference workloads.</a:t>
            </a:r>
            <a:r>
              <a:rPr sz="936" b="0" i="0">
                <a:solidFill>
                  <a:srgbClr val="333333"/>
                </a:solidFill>
                <a:latin typeface="Inter"/>
              </a:rPr>
              <a:t> Enable </a:t>
            </a:r>
            <a:r>
              <a:rPr sz="936" b="1" i="0">
                <a:solidFill>
                  <a:srgbClr val="1976D2"/>
                </a:solidFill>
                <a:latin typeface="Inter"/>
              </a:rPr>
              <a:t>WLM Policy Advisor</a:t>
            </a:r>
            <a:r>
              <a:rPr sz="936" b="0" i="0">
                <a:solidFill>
                  <a:srgbClr val="333333"/>
                </a:solidFill>
                <a:latin typeface="Inter"/>
              </a:rPr>
              <a:t> for AI-driven performance</a:t>
            </a:r>
            <a:r>
              <a:rPr sz="936" b="0" i="0">
                <a:solidFill>
                  <a:srgbClr val="333333"/>
                </a:solidFill>
                <a:latin typeface="Inter"/>
              </a:rPr>
              <a:t> recommendations.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76791" y="4913114"/>
            <a:ext cx="66005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A1B9A"/>
                </a:solidFill>
                <a:latin typeface="Inter"/>
              </a:rPr>
              <a:t>AI Workloads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3510" y="5286375"/>
            <a:ext cx="125075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D47A1"/>
                </a:solidFill>
                <a:latin typeface="Courier New"/>
              </a:rPr>
              <a:t>COUPLExx / BPXPRMxx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3510" y="5450085"/>
            <a:ext cx="3283897" cy="4423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333333"/>
                </a:solidFill>
                <a:latin typeface="Inter"/>
              </a:rPr>
              <a:t>Size CF structures for container workloads. Add ZFS mount</a:t>
            </a:r>
            <a:r>
              <a:rPr sz="936" b="0" i="0">
                <a:solidFill>
                  <a:srgbClr val="333333"/>
                </a:solidFill>
                <a:latin typeface="Inter"/>
              </a:rPr>
              <a:t> points for Docker/zCX images. Verify MAXPROCSYS for AI</a:t>
            </a:r>
            <a:r>
              <a:rPr sz="936" b="0" i="0">
                <a:solidFill>
                  <a:srgbClr val="333333"/>
                </a:solidFill>
                <a:latin typeface="Inter"/>
              </a:rPr>
              <a:t> daemon address spaces.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76791" y="5964733"/>
            <a:ext cx="65037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00695C"/>
                </a:solidFill>
                <a:latin typeface="Inter"/>
              </a:rPr>
              <a:t>Hybrid Cloud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02297" y="152400"/>
            <a:ext cx="6387405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1976D2"/>
                </a:solidFill>
                <a:latin typeface="Arvo"/>
              </a:rPr>
              <a:t>z/OS 3.2 Function Matrix — Part 1: AI, Security &amp;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3153" y="489495"/>
            <a:ext cx="458569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66666"/>
                </a:solidFill>
                <a:latin typeface="Inter"/>
              </a:rPr>
              <a:t>Priority: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🔴</a:t>
            </a:r>
            <a:r>
              <a:rPr sz="864" b="0" i="0">
                <a:solidFill>
                  <a:srgbClr val="666666"/>
                </a:solidFill>
                <a:latin typeface="Inter"/>
              </a:rPr>
              <a:t> Critical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🟠</a:t>
            </a:r>
            <a:r>
              <a:rPr sz="864" b="0" i="0">
                <a:solidFill>
                  <a:srgbClr val="666666"/>
                </a:solidFill>
                <a:latin typeface="Inter"/>
              </a:rPr>
              <a:t> Important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🟢</a:t>
            </a:r>
            <a:r>
              <a:rPr sz="864" b="0" i="0">
                <a:solidFill>
                  <a:srgbClr val="666666"/>
                </a:solidFill>
                <a:latin typeface="Inter"/>
              </a:rPr>
              <a:t> Beneficial  ·  Status: NEW · CHG · ENH  ·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☐</a:t>
            </a:r>
            <a:r>
              <a:rPr sz="864" b="0" i="0">
                <a:solidFill>
                  <a:srgbClr val="666666"/>
                </a:solidFill>
                <a:latin typeface="Inter"/>
              </a:rPr>
              <a:t> = Track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905" y="5638651"/>
            <a:ext cx="285750" cy="123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230" y="5638651"/>
            <a:ext cx="276225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478" y="5638651"/>
            <a:ext cx="266700" cy="1238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760" y="695176"/>
          <a:ext cx="11826474" cy="49053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4269"/>
                <a:gridCol w="3074937"/>
                <a:gridCol w="1064269"/>
                <a:gridCol w="827782"/>
                <a:gridCol w="827782"/>
                <a:gridCol w="827782"/>
                <a:gridCol w="3311425"/>
                <a:gridCol w="828228"/>
              </a:tblGrid>
              <a:tr h="2043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Function / Feature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Priority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Status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Focus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When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Key Detail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Track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</a:tr>
              <a:tr h="20439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AI WORKLOADS — BCP &amp; Communications Server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AI System Services 1.2 — ML for z/OS Core Edition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inferencing integrated into base OS; replaces AISS 1.1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zDNN support for IBM z17 / Telum II processor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Deep Neural Network library updated for Telum II accelerator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WLM_SCLASS_SYSSTC health check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Health check for WLM service class assignments for STCs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Tailored Fit Pricing for zIIP workloads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Hardware pricing model for zIIP-eligible AI workloads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BCP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Workload-level power consumption reporting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🟢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Ben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Power usage reporting at workload granularity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AI-assisted outbound packet batching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model optimizes batch size/timing; reduces CPU overhead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WLM Policy Advisor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assistant recommends WLM policy for network/AI workloads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SECURITY — RACF &amp; ICSF / Quantum-Safe Cryptography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User ID Containment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Immediately stops access during active sessions (OA67286)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AI-driven threat detection &amp; quarantine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Behavioral pattern analysis with RACF-based quarantine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Secrets Management support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Jun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secrets management capability for credentials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Password phrase self-service &amp; bypass syntax rules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Users manage own phrases; installation can override IBM defaults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RACF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RACDCERT multiple alternate names (SANs)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B71C1C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Certificate generation supports multiple Subject Alternate Names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ICSF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NIST PQC algorithms GA (ML-KEM, ML-DSA, SLH-DSA)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QSC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Production-ready quantum-safe algorithms on z17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ICSF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System SSL default updates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F360C"/>
                          </a:solidFill>
                          <a:latin typeface="Inter"/>
                        </a:rPr>
                        <a:t>CHG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QSC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TLS defaults updated; weaker cipher suites may be disabled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ICSF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MK Query update &amp; storage constraint relief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QSC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Master Key query enhancements; ICSF storage usage optimized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HYBRID CLOUD — Communications Server, OMVS &amp; z/OSMF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IPv6 R1 Compliance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Fragmentation, Stable Privacy, Default Address Selection policy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Docker container networking / Sysplex Distributor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Auto-routes traffic to containers without external load balancer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z/OS OpenTelemetry Emitter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Telemetry emission for hybrid cloud observability (OA66345)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Password-less logins for NFS server/client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NFS password-less authentication support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4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z/OSMF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Software install / OS config / data admin automation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Reduced manual steps; z/OS &amp; z17 Upgrade Workflows updated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422005" y="5650706"/>
            <a:ext cx="21327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1B5E20"/>
                </a:solidFill>
                <a:latin typeface="Inter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736" y="5650706"/>
            <a:ext cx="545603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New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9330" y="5650706"/>
            <a:ext cx="20315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BF360C"/>
                </a:solidFill>
                <a:latin typeface="Inter"/>
              </a:rPr>
              <a:t>CHG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942" y="5650706"/>
            <a:ext cx="69264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Changed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3578" y="5650706"/>
            <a:ext cx="19303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0D47A1"/>
                </a:solidFill>
                <a:latin typeface="Inter"/>
              </a:rPr>
              <a:t>ENH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5069" y="5650706"/>
            <a:ext cx="582364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Enhancement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9324" y="5650706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6A1B9A"/>
                </a:solidFill>
                <a:latin typeface="Inte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7728" y="5650706"/>
            <a:ext cx="8929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8915" y="5650706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B71C1C"/>
                </a:solidFill>
                <a:latin typeface="Inte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7319" y="5650706"/>
            <a:ext cx="340965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0174" y="5650706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1565C0"/>
                </a:solidFill>
                <a:latin typeface="Inter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8578" y="5650706"/>
            <a:ext cx="613767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Quantum-Safe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235" y="5650706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00695C"/>
                </a:solidFill>
                <a:latin typeface="Inter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2639" y="5650706"/>
            <a:ext cx="545455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Hybrid Cloud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153" y="152400"/>
            <a:ext cx="7163544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1976D2"/>
                </a:solidFill>
                <a:latin typeface="Arvo"/>
              </a:rPr>
              <a:t>z/OS 3.2 Function Matrix — Part 2: Data, Storage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3153" y="489495"/>
            <a:ext cx="458569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66666"/>
                </a:solidFill>
                <a:latin typeface="Inter"/>
              </a:rPr>
              <a:t>Priority: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🔴</a:t>
            </a:r>
            <a:r>
              <a:rPr sz="864" b="0" i="0">
                <a:solidFill>
                  <a:srgbClr val="666666"/>
                </a:solidFill>
                <a:latin typeface="Inter"/>
              </a:rPr>
              <a:t> Critical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🟠</a:t>
            </a:r>
            <a:r>
              <a:rPr sz="864" b="0" i="0">
                <a:solidFill>
                  <a:srgbClr val="666666"/>
                </a:solidFill>
                <a:latin typeface="Inter"/>
              </a:rPr>
              <a:t> Important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🟢</a:t>
            </a:r>
            <a:r>
              <a:rPr sz="864" b="0" i="0">
                <a:solidFill>
                  <a:srgbClr val="666666"/>
                </a:solidFill>
                <a:latin typeface="Inter"/>
              </a:rPr>
              <a:t> Beneficial  ·  Status: NEW · CHG · ENH  ·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☐</a:t>
            </a:r>
            <a:r>
              <a:rPr sz="864" b="0" i="0">
                <a:solidFill>
                  <a:srgbClr val="666666"/>
                </a:solidFill>
                <a:latin typeface="Inter"/>
              </a:rPr>
              <a:t> = Track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741" y="5818137"/>
            <a:ext cx="285750" cy="123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66" y="5818137"/>
            <a:ext cx="276225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314" y="5818137"/>
            <a:ext cx="266700" cy="1238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760" y="695176"/>
          <a:ext cx="11826474" cy="508486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4269"/>
                <a:gridCol w="3074937"/>
                <a:gridCol w="1064269"/>
                <a:gridCol w="827782"/>
                <a:gridCol w="827782"/>
                <a:gridCol w="827782"/>
                <a:gridCol w="3311425"/>
                <a:gridCol w="828228"/>
              </a:tblGrid>
              <a:tr h="203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Function / Feature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Priority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Status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Focus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When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Key Detail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Track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</a:tr>
              <a:tr h="20339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Arvo"/>
                        </a:rPr>
                        <a:t>OMVS / z/OS UNIX System Services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PROC file system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🟢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Ben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pseudo-FS providing process info via /proc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shlock and flock — shell script locking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Locking mechanisms for z/OS UNIX shell scripts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Validating z/OS UNIX system configuration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tooling to validate UNIX system configuration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Managing namespaces; display FS IDs; per-client NFS unmount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🟢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Ben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Namespace mgmt; mount point visibility; granular NFS unmount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zFS shrink enhancements; BUFSIZE max 2047 MB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Improved zFS shrink; UNIX buffer ceiling raised for AI model data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DFSMS — OAM / IDCAMS / HSM   |   CDP — Common Data Provider</a:t>
                      </a:r>
                    </a:p>
                  </a:txBody>
                  <a:tcPr anchor="ctr">
                    <a:solidFill>
                      <a:srgbClr val="00695C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OAM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OAM REST API — START / STOP / DISPLAY / MODIFY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4E342E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Jan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REST API for Object Access Method; new MVS commands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OAM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ASCBV31 / REUSASID support in OAM components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4E342E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Feb 2026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OAM updated for new BCP parameters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IDCAMS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DCOLLECT new field 322; REPRO CIMODE; EXTENT POOL V3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🟢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Ben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4E342E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Sep–Jan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DCOLLECT offset; REPRO CI mode; extent pool detailed output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CDP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OpenTelemetry Emitter integration (SMF 1157–1161)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CDP feeds new SMF types for OTel telemetry pipeline (OA66345)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CDP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SMF Type 70 subtype 3 — CPU diagnostics data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Mar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subtype for CPU diagnostics measurement (OA68545)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RMF — Resource Measurement Facility   |   SMF Records</a:t>
                      </a:r>
                    </a:p>
                  </a:txBody>
                  <a:tcPr anchor="ctr">
                    <a:solidFill>
                      <a:srgbClr val="4E342E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OpenMetrics endpoint — Prometheus / Grafana integration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Monitor III metrics in OpenMetrics; integrates Prometheus, Telegraf, Grafana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JSON format for DDS responses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DDS returns JSON in addition to XML for flexible data extraction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NETH (Network Express Hybrid) PCIE Activity Report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Dec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PCIE device type; NETH activity panel (OA68173)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Service Class Period in DELAY/PROC/STOR/STORC reports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Apr 2026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Service Class Period added to four key reports (OA69228)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Hardware Group Cap utilization in CPC Capacity Report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Apr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CPC report shows Hardware Group Cap utilization (OA69228)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SMF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Type 30 Storage/Paging; Types 1157–1161 OTel; Type 88 Logger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fields in Type 30; OTel record types; Logger SMF88LTDE/ATKE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SMF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Type 119 AI batching flag; Type 72/74 new fields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batching training flag; IPv6 R1 compliance; I/O link stats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SMP/E  ·  JES2  ·  Language Environment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SMP/E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z/OS 3.2 product packaging support; message changes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SMP/E updated for new 3.2 FMIDs and product packaging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JES2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Extended policy functions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policy types and conditions for job processing control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Lang Env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IBM Semeru 25 support; CEEPRMxx release updates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Apr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Semeru Runtime v25 supported; LE runtime options changed — retest apps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442841" y="5830192"/>
            <a:ext cx="21327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1B5E20"/>
                </a:solidFill>
                <a:latin typeface="Inter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4572" y="5830192"/>
            <a:ext cx="545603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New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0166" y="5830192"/>
            <a:ext cx="20315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BF360C"/>
                </a:solidFill>
                <a:latin typeface="Inter"/>
              </a:rPr>
              <a:t>CHG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1778" y="5830192"/>
            <a:ext cx="69264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Changed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4414" y="5830192"/>
            <a:ext cx="19303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0D47A1"/>
                </a:solidFill>
                <a:latin typeface="Inter"/>
              </a:rPr>
              <a:t>ENH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905" y="5830192"/>
            <a:ext cx="582364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Enhancement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0160" y="5830192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4E342E"/>
                </a:solidFill>
                <a:latin typeface="Inte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8564" y="5830192"/>
            <a:ext cx="556021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Data/Storage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6476" y="5830192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1565C0"/>
                </a:solidFill>
                <a:latin typeface="Inte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4880" y="5830192"/>
            <a:ext cx="44068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7450" y="5830192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00695C"/>
                </a:solidFill>
                <a:latin typeface="Inter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5854" y="5830192"/>
            <a:ext cx="461664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9409" y="5830192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6A1B9A"/>
                </a:solidFill>
                <a:latin typeface="Inter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7813" y="5830192"/>
            <a:ext cx="8929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74974" y="152400"/>
            <a:ext cx="7842051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B71C1C"/>
                </a:solidFill>
                <a:latin typeface="Arvo"/>
              </a:rPr>
              <a:t>z/OS 3.2 Function Matrix — Part 3: Deprecated &amp; Removed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3228" y="489495"/>
            <a:ext cx="672554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66666"/>
                </a:solidFill>
                <a:latin typeface="Inter"/>
              </a:rPr>
              <a:t>Impact: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🔴</a:t>
            </a:r>
            <a:r>
              <a:rPr sz="864" b="0" i="0">
                <a:solidFill>
                  <a:srgbClr val="666666"/>
                </a:solidFill>
                <a:latin typeface="Inter"/>
              </a:rPr>
              <a:t> IPL Failure Risk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🟠</a:t>
            </a:r>
            <a:r>
              <a:rPr sz="864" b="0" i="0">
                <a:solidFill>
                  <a:srgbClr val="666666"/>
                </a:solidFill>
                <a:latin typeface="Inter"/>
              </a:rPr>
              <a:t> Functional Loss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🟡</a:t>
            </a:r>
            <a:r>
              <a:rPr sz="864" b="0" i="0">
                <a:solidFill>
                  <a:srgbClr val="666666"/>
                </a:solidFill>
                <a:latin typeface="Inter"/>
              </a:rPr>
              <a:t> Action Required  ·  Status: REMOVED · DEPRECATED · CHANGED  ·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☐</a:t>
            </a:r>
            <a:r>
              <a:rPr sz="864" b="0" i="0">
                <a:solidFill>
                  <a:srgbClr val="666666"/>
                </a:solidFill>
                <a:latin typeface="Inter"/>
              </a:rPr>
              <a:t> = Track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60" y="4605932"/>
            <a:ext cx="11820525" cy="21907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760" y="695176"/>
          <a:ext cx="11826474" cy="38650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4269"/>
                <a:gridCol w="2601813"/>
                <a:gridCol w="1064269"/>
                <a:gridCol w="946100"/>
                <a:gridCol w="709463"/>
                <a:gridCol w="2601813"/>
                <a:gridCol w="2247007"/>
                <a:gridCol w="591740"/>
              </a:tblGrid>
              <a:tr h="2034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Function / Feature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Impact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Status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Since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Risk / Detail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Replacement / Action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Track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</a:tr>
              <a:tr h="20342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Arvo"/>
                        </a:rPr>
                        <a:t>⛔</a:t>
                      </a: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 REMOVED IN z/OS 3.2 — Immediate Action Required Before IPL</a:t>
                      </a:r>
                    </a:p>
                  </a:txBody>
                  <a:tcPr anchor="ctr">
                    <a:solidFill>
                      <a:srgbClr val="B71C1C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BPXPRMxx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HFS params: BUFFERMONITOR, FIXED, RNODEWAIT, SYNCDEFAULT, WAITABEND, VIRTUAL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IPL Risk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Parameters deleted; presence causes IPL failure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Remove all HFS params; ZFS mandatory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IEASYSxx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VRREGN= and VREALSZ= parameters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IPL Risk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Causes IPL failure if present in 3.2 IEASYSxx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Replace with REAL=nnnM or REAL=nnnG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C/C++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C/C++ Host Performance Analyzer (FMIDs H24P111, J24P112)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Product removed; no longer orderable or installable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IBM Developer for z/OS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AI/ML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System Services 1.1 (AISS 1.1) &amp; MLz Core 3.1 (HAQN310)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Dec 2025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AISS 1.1 and MLz Core 3.1 superseded and 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Install AISS 1.2 and MLz Core 3.2 (HAQN320)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Arvo"/>
                        </a:rPr>
                        <a:t>⚠️</a:t>
                      </a: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 REMOVED IN PRIOR RELEASES — Verify Not Present When Migrating to 3.2</a:t>
                      </a:r>
                    </a:p>
                  </a:txBody>
                  <a:tcPr anchor="ctr">
                    <a:solidFill>
                      <a:srgbClr val="E65100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HFS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Hierarchical File System (HFS) data structure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IPL Risk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2.5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Cannot mount DSNTYPE=HFS; remaining HFS mounts fail at IPL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Migrate all HFS to ZFS using zfsadm convert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JES3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JES3 — Job Entry Subsystem 3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IPL Risk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JES3 removed; JES2 is sole JES in 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Migrate to JES2; use IBM migration guide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BDT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Bulk Data Transfer (BDT, BDT File-to-File, BDT SNA NJE)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All BDT elements removed; not available in 3.2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FTP, Connect:Direct, or MQ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Communications Server Security Level 3 (standalone)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Unpriced feature removed; function 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z/OS Security Level 3 optional feature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IBM KC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IBM Knowledge Center for z/OS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Base element removed; documentation moved online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ibm.com/docs/en/zos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Alternate Base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Alternate Base priced feature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Priced feature removed; not available in 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Review licensing; contact IBM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Arvo"/>
                        </a:rPr>
                        <a:t>🟡</a:t>
                      </a: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 DEPRECATED / CHANGED DEFAULTS — Plan Migration Before Future Release</a:t>
                      </a:r>
                    </a:p>
                  </a:txBody>
                  <a:tcPr anchor="ctr">
                    <a:solidFill>
                      <a:srgbClr val="F57F17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IEAOPTxx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CPENABLE=OFF (prior default behavior)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CHANGED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Default now CPENABLE=SYSTEM; CPU automation may conflict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Test in non-prod LPAR; review capacity tools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System SSL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Prior TLS default cipher suite settings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CHANGED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Weaker cipher suites may be disabled by new defaults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Audit AT-TLS policies; test all TLS connections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BPXPRMxx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REXXPARSE default behavior (pre-3.2)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CHANGED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REXXPARSE param changes REXX detection criteria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Set REXXPARSE explicitly; test all REXX scripts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DFSMS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DCOLLECT DVLCSMSS field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Field removed from DCOLLECT Output Record Structure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Update programs parsing DCOLLECT output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RMF 3.1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RMF for z/OS 3.1 documentation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F360C"/>
                          </a:solidFill>
                          <a:latin typeface="Inter"/>
                        </a:rPr>
                        <a:t>DEPRECATED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RMF 3.1 docs no longer published or maintained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RMF for z/OS 3.2 documentation exclusively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7785" y="4663082"/>
            <a:ext cx="7897353" cy="1428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04" b="0" i="0">
                <a:solidFill>
                  <a:srgbClr val="BF360C"/>
                </a:solidFill>
                <a:latin typeface="Segoe UI Emoji"/>
              </a:rPr>
              <a:t>⚠️</a:t>
            </a:r>
            <a:r>
              <a:rPr sz="804" b="0" i="0">
                <a:solidFill>
                  <a:srgbClr val="BF360C"/>
                </a:solidFill>
                <a:latin typeface="Inter"/>
              </a:rPr>
              <a:t> </a:t>
            </a:r>
            <a:r>
              <a:rPr sz="804" b="1" i="0">
                <a:solidFill>
                  <a:srgbClr val="BF360C"/>
                </a:solidFill>
                <a:latin typeface="Inter"/>
              </a:rPr>
              <a:t>Migration Rule:</a:t>
            </a:r>
            <a:r>
              <a:rPr sz="804" b="0" i="0">
                <a:solidFill>
                  <a:srgbClr val="BF360C"/>
                </a:solidFill>
                <a:latin typeface="Inter"/>
              </a:rPr>
              <a:t> Run </a:t>
            </a:r>
            <a:r>
              <a:rPr sz="804" b="1" i="0">
                <a:solidFill>
                  <a:srgbClr val="BF360C"/>
                </a:solidFill>
                <a:latin typeface="Inter"/>
              </a:rPr>
              <a:t>z/OS Upgrade Workflow</a:t>
            </a:r>
            <a:r>
              <a:rPr sz="804" b="0" i="0">
                <a:solidFill>
                  <a:srgbClr val="BF360C"/>
                </a:solidFill>
                <a:latin typeface="Inter"/>
              </a:rPr>
              <a:t> in z/OSMF to generate a personalized deprecated-function checklist. All </a:t>
            </a:r>
            <a:r>
              <a:rPr sz="804" b="0" i="0">
                <a:solidFill>
                  <a:srgbClr val="BF360C"/>
                </a:solidFill>
                <a:latin typeface="Segoe UI Emoji"/>
              </a:rPr>
              <a:t>☐</a:t>
            </a:r>
            <a:r>
              <a:rPr sz="804" b="0" i="0">
                <a:solidFill>
                  <a:srgbClr val="BF360C"/>
                </a:solidFill>
                <a:latin typeface="Inter"/>
              </a:rPr>
              <a:t> items must be verified before first test IPL.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