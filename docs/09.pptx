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  <Default Extension="fntdata" ContentType="application/x-fontdata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 embedTrueTypeFonts="1">
  <p:sldMasterIdLst>
    <p:sldMasterId id="2147483648" r:id="rId1"/>
  </p:sldMasterIdLst>
  <p:sldIdLst>
    <p:sldId id="256" r:id="rId7"/>
  </p:sldIdLst>
  <p:sldSz cx="12192000" cy="6858000" type="screen4x3"/>
  <p:notesSz cx="6858000" cy="9144000"/>
  <p:embeddedFontLst>
    <p:embeddedFont>
      <p:font typeface="Arvo" pitchFamily="2" charset="0"/>
      <p:regular r:id="rId11"/>
      <p:bold r:id="rId8"/>
      <p:italic r:id="rId10"/>
      <p:boldItalic r:id="rId9"/>
    </p:embeddedFont>
    <p:embeddedFont>
      <p:font typeface="Inter" pitchFamily="2" charset="0"/>
      <p:regular r:id="rId15"/>
      <p:bold r:id="rId12"/>
      <p:italic r:id="rId14"/>
      <p:boldItalic r:id="rId13"/>
    </p:embeddedFont>
  </p:embeddedFont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?>
<Relationships xmlns="http://schemas.openxmlformats.org/package/2006/relationships">
  <Relationship Id="rId1" Type="http://schemas.openxmlformats.org/officeDocument/2006/relationships/slideMaster" Target="slideMasters/slideMaster1.xml"/>
  <Relationship Id="rId2" Type="http://schemas.openxmlformats.org/officeDocument/2006/relationships/printerSettings" Target="printerSettings/printerSettings1.bin"/>
  <Relationship Id="rId3" Type="http://schemas.openxmlformats.org/officeDocument/2006/relationships/presProps" Target="presProps.xml"/>
  <Relationship Id="rId4" Type="http://schemas.openxmlformats.org/officeDocument/2006/relationships/viewProps" Target="viewProps.xml"/>
  <Relationship Id="rId5" Type="http://schemas.openxmlformats.org/officeDocument/2006/relationships/theme" Target="theme/theme1.xml"/>
  <Relationship Id="rId6" Type="http://schemas.openxmlformats.org/officeDocument/2006/relationships/tableStyles" Target="tableStyles.xml"/>
  <Relationship Id="rId7" Type="http://schemas.openxmlformats.org/officeDocument/2006/relationships/slide" Target="slides/slide1.xml"/>
  <Relationship Id="rId8" Type="http://schemas.openxmlformats.org/officeDocument/2006/relationships/font" Target="fonts/font1.fntdata"/>
  <Relationship Id="rId9" Type="http://schemas.openxmlformats.org/officeDocument/2006/relationships/font" Target="fonts/font2.fntdata"/>
  <Relationship Id="rId10" Type="http://schemas.openxmlformats.org/officeDocument/2006/relationships/font" Target="fonts/font3.fntdata"/>
  <Relationship Id="rId11" Type="http://schemas.openxmlformats.org/officeDocument/2006/relationships/font" Target="fonts/font4.fntdata"/>
  <Relationship Id="rId12" Type="http://schemas.openxmlformats.org/officeDocument/2006/relationships/font" Target="fonts/font5.fntdata"/>
  <Relationship Id="rId13" Type="http://schemas.openxmlformats.org/officeDocument/2006/relationships/font" Target="fonts/font6.fntdata"/>
  <Relationship Id="rId14" Type="http://schemas.openxmlformats.org/officeDocument/2006/relationships/font" Target="fonts/font7.fntdata"/>
  <Relationship Id="rId15" Type="http://schemas.openxmlformats.org/officeDocument/2006/relationships/font" Target="fonts/font8.fntdata"/>
</Relationships>
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image" Target="../media/image6.png"/><Relationship Id="rId8" Type="http://schemas.openxmlformats.org/officeDocument/2006/relationships/image" Target="../media/image7.png"/><Relationship Id="rId9" Type="http://schemas.openxmlformats.org/officeDocument/2006/relationships/image" Target="../media/image8.png"/><Relationship Id="rId10" Type="http://schemas.openxmlformats.org/officeDocument/2006/relationships/image" Target="../media/image9.png"/><Relationship Id="rId11" Type="http://schemas.openxmlformats.org/officeDocument/2006/relationships/image" Target="../media/image10.png"/><Relationship Id="rId12" Type="http://schemas.openxmlformats.org/officeDocument/2006/relationships/image" Target="../media/image11.png"/><Relationship Id="rId13" Type="http://schemas.openxmlformats.org/officeDocument/2006/relationships/image" Target="../media/image12.png"/><Relationship Id="rId14" Type="http://schemas.openxmlformats.org/officeDocument/2006/relationships/image" Target="../media/image13.png"/><Relationship Id="rId15" Type="http://schemas.openxmlformats.org/officeDocument/2006/relationships/image" Target="../media/image14.png"/><Relationship Id="rId16" Type="http://schemas.openxmlformats.org/officeDocument/2006/relationships/image" Target="../media/image15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2098030" y="304800"/>
            <a:ext cx="7995791" cy="47625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120" b="1" i="0">
                <a:solidFill>
                  <a:srgbClr val="1976D2"/>
                </a:solidFill>
                <a:latin typeface="Arvo"/>
              </a:rPr>
              <a:t>Implementation Roadmap &amp; Next Steps</a:t>
            </a:r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1000" y="1333500"/>
            <a:ext cx="3914775" cy="42291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017091" y="1747837"/>
            <a:ext cx="2639169" cy="26670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79" b="1" i="0">
                <a:solidFill>
                  <a:srgbClr val="1976D2"/>
                </a:solidFill>
                <a:latin typeface="Arvo"/>
              </a:rPr>
              <a:t>Implementation Phases</a:t>
            </a:r>
          </a:p>
        </p:txBody>
      </p:sp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8200" y="2228850"/>
            <a:ext cx="180975" cy="19050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1097160" y="2222152"/>
            <a:ext cx="2642324" cy="320724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19" b="1" i="0">
                <a:solidFill>
                  <a:srgbClr val="0D47A1"/>
                </a:solidFill>
                <a:latin typeface="Inter"/>
              </a:rPr>
              <a:t>Q1 2025:</a:t>
            </a:r>
            <a:r>
              <a:rPr sz="1019" b="0" i="0">
                <a:solidFill>
                  <a:srgbClr val="333333"/>
                </a:solidFill>
                <a:latin typeface="Inter"/>
              </a:rPr>
              <a:t> Assessment and planning phase</a:t>
            </a:r>
            <a:r>
              <a:rPr sz="1019" b="0" i="0">
                <a:solidFill>
                  <a:srgbClr val="333333"/>
                </a:solidFill>
                <a:latin typeface="Inter"/>
              </a:rPr>
              <a:t> with current system evaluation.</a:t>
            </a:r>
          </a:p>
        </p:txBody>
      </p:sp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38200" y="2752725"/>
            <a:ext cx="228600" cy="19050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1097160" y="2741562"/>
            <a:ext cx="2792045" cy="320724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19" b="1" i="0">
                <a:solidFill>
                  <a:srgbClr val="0D47A1"/>
                </a:solidFill>
                <a:latin typeface="Inter"/>
              </a:rPr>
              <a:t>Q2 2025:</a:t>
            </a:r>
            <a:r>
              <a:rPr sz="1019" b="0" i="0">
                <a:solidFill>
                  <a:srgbClr val="333333"/>
                </a:solidFill>
                <a:latin typeface="Inter"/>
              </a:rPr>
              <a:t> Beta testing participation and staff</a:t>
            </a:r>
            <a:r>
              <a:rPr sz="1019" b="0" i="0">
                <a:solidFill>
                  <a:srgbClr val="333333"/>
                </a:solidFill>
                <a:latin typeface="Inter"/>
              </a:rPr>
              <a:t> training programs.</a:t>
            </a:r>
          </a:p>
        </p:txBody>
      </p:sp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28675" y="3267075"/>
            <a:ext cx="200025" cy="19050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1097160" y="3260973"/>
            <a:ext cx="2701855" cy="320724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19" b="1" i="0">
                <a:solidFill>
                  <a:srgbClr val="0D47A1"/>
                </a:solidFill>
                <a:latin typeface="Inter"/>
              </a:rPr>
              <a:t>Q3 2025:</a:t>
            </a:r>
            <a:r>
              <a:rPr sz="1019" b="0" i="0">
                <a:solidFill>
                  <a:srgbClr val="333333"/>
                </a:solidFill>
                <a:latin typeface="Inter"/>
              </a:rPr>
              <a:t> Production deployment following</a:t>
            </a:r>
            <a:r>
              <a:rPr sz="1019" b="0" i="0">
                <a:solidFill>
                  <a:srgbClr val="333333"/>
                </a:solidFill>
                <a:latin typeface="Inter"/>
              </a:rPr>
              <a:t> GA release in September.</a:t>
            </a:r>
          </a:p>
        </p:txBody>
      </p:sp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38200" y="3800475"/>
            <a:ext cx="190500" cy="180975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1097160" y="3780383"/>
            <a:ext cx="2422653" cy="320724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19" b="1" i="0">
                <a:solidFill>
                  <a:srgbClr val="0D47A1"/>
                </a:solidFill>
                <a:latin typeface="Inter"/>
              </a:rPr>
              <a:t>Q4 2025:</a:t>
            </a:r>
            <a:r>
              <a:rPr sz="1019" b="0" i="0">
                <a:solidFill>
                  <a:srgbClr val="333333"/>
                </a:solidFill>
                <a:latin typeface="Inter"/>
              </a:rPr>
              <a:t> Optimization and full feature</a:t>
            </a:r>
            <a:r>
              <a:rPr sz="1019" b="0" i="0">
                <a:solidFill>
                  <a:srgbClr val="333333"/>
                </a:solidFill>
                <a:latin typeface="Inter"/>
              </a:rPr>
              <a:t> exploitation phase.</a:t>
            </a:r>
          </a:p>
        </p:txBody>
      </p:sp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43375" y="1333500"/>
            <a:ext cx="3914775" cy="4229100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5099298" y="1747837"/>
            <a:ext cx="1993255" cy="26670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79" b="1" i="0">
                <a:solidFill>
                  <a:srgbClr val="1976D2"/>
                </a:solidFill>
                <a:latin typeface="Arvo"/>
              </a:rPr>
              <a:t>Preparation Steps</a:t>
            </a:r>
          </a:p>
        </p:txBody>
      </p:sp>
      <p:pic>
        <p:nvPicPr>
          <p:cNvPr id="17" name="Picture 16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600575" y="2228850"/>
            <a:ext cx="180975" cy="190500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4856261" y="2222152"/>
            <a:ext cx="2540525" cy="320724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19" b="1" i="0">
                <a:solidFill>
                  <a:srgbClr val="1976D2"/>
                </a:solidFill>
                <a:latin typeface="Inter"/>
              </a:rPr>
              <a:t>Hardware Assessment:</a:t>
            </a:r>
            <a:r>
              <a:rPr sz="1019" b="0" i="0">
                <a:solidFill>
                  <a:srgbClr val="333333"/>
                </a:solidFill>
                <a:latin typeface="Inter"/>
              </a:rPr>
              <a:t> Verify IBM z17</a:t>
            </a:r>
            <a:r>
              <a:rPr sz="1019" b="0" i="0">
                <a:solidFill>
                  <a:srgbClr val="333333"/>
                </a:solidFill>
                <a:latin typeface="Inter"/>
              </a:rPr>
              <a:t> compatibility and upgrade requirements.</a:t>
            </a:r>
          </a:p>
        </p:txBody>
      </p:sp>
      <p:pic>
        <p:nvPicPr>
          <p:cNvPr id="19" name="Picture 18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600575" y="2752725"/>
            <a:ext cx="228600" cy="190500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4856261" y="2741562"/>
            <a:ext cx="2719119" cy="320724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19" b="1" i="0">
                <a:solidFill>
                  <a:srgbClr val="1976D2"/>
                </a:solidFill>
                <a:latin typeface="Inter"/>
              </a:rPr>
              <a:t>Team Training:</a:t>
            </a:r>
            <a:r>
              <a:rPr sz="1019" b="0" i="0">
                <a:solidFill>
                  <a:srgbClr val="333333"/>
                </a:solidFill>
                <a:latin typeface="Inter"/>
              </a:rPr>
              <a:t> Enroll system programmers</a:t>
            </a:r>
            <a:r>
              <a:rPr sz="1019" b="0" i="0">
                <a:solidFill>
                  <a:srgbClr val="333333"/>
                </a:solidFill>
                <a:latin typeface="Inter"/>
              </a:rPr>
              <a:t> in z/OS 3.2 certification programs.</a:t>
            </a:r>
          </a:p>
        </p:txBody>
      </p:sp>
      <p:pic>
        <p:nvPicPr>
          <p:cNvPr id="21" name="Picture 20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600575" y="3267075"/>
            <a:ext cx="180975" cy="190500"/>
          </a:xfrm>
          <a:prstGeom prst="rect">
            <a:avLst/>
          </a:prstGeom>
        </p:spPr>
      </p:pic>
      <p:sp>
        <p:nvSpPr>
          <p:cNvPr id="22" name="TextBox 21"/>
          <p:cNvSpPr txBox="1"/>
          <p:nvPr/>
        </p:nvSpPr>
        <p:spPr>
          <a:xfrm>
            <a:off x="4856261" y="3260973"/>
            <a:ext cx="2720310" cy="320724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19" b="1" i="0">
                <a:solidFill>
                  <a:srgbClr val="1976D2"/>
                </a:solidFill>
                <a:latin typeface="Inter"/>
              </a:rPr>
              <a:t>Parmlib Review:</a:t>
            </a:r>
            <a:r>
              <a:rPr sz="1019" b="0" i="0">
                <a:solidFill>
                  <a:srgbClr val="333333"/>
                </a:solidFill>
                <a:latin typeface="Inter"/>
              </a:rPr>
              <a:t> Audit current Sys1.parmlib</a:t>
            </a:r>
            <a:r>
              <a:rPr sz="1019" b="0" i="0">
                <a:solidFill>
                  <a:srgbClr val="333333"/>
                </a:solidFill>
                <a:latin typeface="Inter"/>
              </a:rPr>
              <a:t> settings for migration compatibility.</a:t>
            </a:r>
          </a:p>
        </p:txBody>
      </p:sp>
      <p:pic>
        <p:nvPicPr>
          <p:cNvPr id="23" name="Picture 22" descr="image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4600575" y="3790950"/>
            <a:ext cx="190500" cy="190500"/>
          </a:xfrm>
          <a:prstGeom prst="rect">
            <a:avLst/>
          </a:prstGeom>
        </p:spPr>
      </p:pic>
      <p:sp>
        <p:nvSpPr>
          <p:cNvPr id="24" name="TextBox 23"/>
          <p:cNvSpPr txBox="1"/>
          <p:nvPr/>
        </p:nvSpPr>
        <p:spPr>
          <a:xfrm>
            <a:off x="4856261" y="3780383"/>
            <a:ext cx="2326213" cy="489049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19" b="1" i="0">
                <a:solidFill>
                  <a:srgbClr val="1976D2"/>
                </a:solidFill>
                <a:latin typeface="Inter"/>
              </a:rPr>
              <a:t>Security Planning:</a:t>
            </a:r>
            <a:r>
              <a:rPr sz="1019" b="0" i="0">
                <a:solidFill>
                  <a:srgbClr val="333333"/>
                </a:solidFill>
                <a:latin typeface="Inter"/>
              </a:rPr>
              <a:t> Prepare for RACF</a:t>
            </a:r>
            <a:r>
              <a:rPr sz="1019" b="0" i="0">
                <a:solidFill>
                  <a:srgbClr val="333333"/>
                </a:solidFill>
                <a:latin typeface="Inter"/>
              </a:rPr>
              <a:t> enhancements and quantum-safe</a:t>
            </a:r>
            <a:r>
              <a:rPr sz="1019" b="0" i="0">
                <a:solidFill>
                  <a:srgbClr val="333333"/>
                </a:solidFill>
                <a:latin typeface="Inter"/>
              </a:rPr>
              <a:t> implementation.</a:t>
            </a:r>
          </a:p>
        </p:txBody>
      </p:sp>
      <p:pic>
        <p:nvPicPr>
          <p:cNvPr id="25" name="Picture 2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96225" y="1333500"/>
            <a:ext cx="3914775" cy="4229100"/>
          </a:xfrm>
          <a:prstGeom prst="rect">
            <a:avLst/>
          </a:prstGeom>
        </p:spPr>
      </p:pic>
      <p:sp>
        <p:nvSpPr>
          <p:cNvPr id="26" name="TextBox 25"/>
          <p:cNvSpPr txBox="1"/>
          <p:nvPr/>
        </p:nvSpPr>
        <p:spPr>
          <a:xfrm>
            <a:off x="8979396" y="1747837"/>
            <a:ext cx="1751409" cy="26670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79" b="1" i="0">
                <a:solidFill>
                  <a:srgbClr val="1976D2"/>
                </a:solidFill>
                <a:latin typeface="Arvo"/>
              </a:rPr>
              <a:t>Success Factors</a:t>
            </a:r>
          </a:p>
        </p:txBody>
      </p:sp>
      <p:pic>
        <p:nvPicPr>
          <p:cNvPr id="27" name="Picture 26" descr="image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8353425" y="2238375"/>
            <a:ext cx="228600" cy="180975"/>
          </a:xfrm>
          <a:prstGeom prst="rect">
            <a:avLst/>
          </a:prstGeom>
        </p:spPr>
      </p:pic>
      <p:sp>
        <p:nvSpPr>
          <p:cNvPr id="28" name="TextBox 27"/>
          <p:cNvSpPr txBox="1"/>
          <p:nvPr/>
        </p:nvSpPr>
        <p:spPr>
          <a:xfrm>
            <a:off x="8615511" y="2222152"/>
            <a:ext cx="2403603" cy="489049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19" b="1" i="0">
                <a:solidFill>
                  <a:srgbClr val="2E7D32"/>
                </a:solidFill>
                <a:latin typeface="Inter"/>
              </a:rPr>
              <a:t>Executive Support:</a:t>
            </a:r>
            <a:r>
              <a:rPr sz="1019" b="0" i="0">
                <a:solidFill>
                  <a:srgbClr val="333333"/>
                </a:solidFill>
                <a:latin typeface="Inter"/>
              </a:rPr>
              <a:t> Ensure leadership</a:t>
            </a:r>
            <a:r>
              <a:rPr sz="1019" b="0" i="0">
                <a:solidFill>
                  <a:srgbClr val="333333"/>
                </a:solidFill>
                <a:latin typeface="Inter"/>
              </a:rPr>
              <a:t> commitment for AI and hybrid cloud</a:t>
            </a:r>
            <a:r>
              <a:rPr sz="1019" b="0" i="0">
                <a:solidFill>
                  <a:srgbClr val="333333"/>
                </a:solidFill>
                <a:latin typeface="Inter"/>
              </a:rPr>
              <a:t> initiatives.</a:t>
            </a:r>
          </a:p>
        </p:txBody>
      </p:sp>
      <p:pic>
        <p:nvPicPr>
          <p:cNvPr id="29" name="Picture 28" descr="image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8343900" y="2924175"/>
            <a:ext cx="238125" cy="180975"/>
          </a:xfrm>
          <a:prstGeom prst="rect">
            <a:avLst/>
          </a:prstGeom>
        </p:spPr>
      </p:pic>
      <p:sp>
        <p:nvSpPr>
          <p:cNvPr id="30" name="TextBox 29"/>
          <p:cNvSpPr txBox="1"/>
          <p:nvPr/>
        </p:nvSpPr>
        <p:spPr>
          <a:xfrm>
            <a:off x="8615511" y="2909887"/>
            <a:ext cx="2383065" cy="489049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19" b="1" i="0">
                <a:solidFill>
                  <a:srgbClr val="2E7D32"/>
                </a:solidFill>
                <a:latin typeface="Inter"/>
              </a:rPr>
              <a:t>Skills Development:</a:t>
            </a:r>
            <a:r>
              <a:rPr sz="1019" b="0" i="0">
                <a:solidFill>
                  <a:srgbClr val="333333"/>
                </a:solidFill>
                <a:latin typeface="Inter"/>
              </a:rPr>
              <a:t> Invest in</a:t>
            </a:r>
            <a:r>
              <a:rPr sz="1019" b="0" i="0">
                <a:solidFill>
                  <a:srgbClr val="333333"/>
                </a:solidFill>
                <a:latin typeface="Inter"/>
              </a:rPr>
              <a:t> comprehensive training for AI-infused</a:t>
            </a:r>
            <a:r>
              <a:rPr sz="1019" b="0" i="0">
                <a:solidFill>
                  <a:srgbClr val="333333"/>
                </a:solidFill>
                <a:latin typeface="Inter"/>
              </a:rPr>
              <a:t> capabilities.</a:t>
            </a:r>
          </a:p>
        </p:txBody>
      </p:sp>
      <p:pic>
        <p:nvPicPr>
          <p:cNvPr id="31" name="Picture 30" descr="image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8353425" y="3609975"/>
            <a:ext cx="190500" cy="180975"/>
          </a:xfrm>
          <a:prstGeom prst="rect">
            <a:avLst/>
          </a:prstGeom>
        </p:spPr>
      </p:pic>
      <p:sp>
        <p:nvSpPr>
          <p:cNvPr id="32" name="TextBox 31"/>
          <p:cNvSpPr txBox="1"/>
          <p:nvPr/>
        </p:nvSpPr>
        <p:spPr>
          <a:xfrm>
            <a:off x="8615511" y="3597622"/>
            <a:ext cx="2636817" cy="320724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19" b="1" i="0">
                <a:solidFill>
                  <a:srgbClr val="2E7D32"/>
                </a:solidFill>
                <a:latin typeface="Inter"/>
              </a:rPr>
              <a:t>Phased Approach:</a:t>
            </a:r>
            <a:r>
              <a:rPr sz="1019" b="0" i="0">
                <a:solidFill>
                  <a:srgbClr val="333333"/>
                </a:solidFill>
                <a:latin typeface="Inter"/>
              </a:rPr>
              <a:t> Implement features</a:t>
            </a:r>
            <a:r>
              <a:rPr sz="1019" b="0" i="0">
                <a:solidFill>
                  <a:srgbClr val="333333"/>
                </a:solidFill>
                <a:latin typeface="Inter"/>
              </a:rPr>
              <a:t> incrementally to minimize operational risk.</a:t>
            </a:r>
          </a:p>
        </p:txBody>
      </p:sp>
      <p:pic>
        <p:nvPicPr>
          <p:cNvPr id="33" name="Picture 32" descr="image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8353425" y="4124325"/>
            <a:ext cx="190500" cy="190500"/>
          </a:xfrm>
          <a:prstGeom prst="rect">
            <a:avLst/>
          </a:prstGeom>
        </p:spPr>
      </p:pic>
      <p:sp>
        <p:nvSpPr>
          <p:cNvPr id="34" name="TextBox 33"/>
          <p:cNvSpPr txBox="1"/>
          <p:nvPr/>
        </p:nvSpPr>
        <p:spPr>
          <a:xfrm>
            <a:off x="8615511" y="4117032"/>
            <a:ext cx="2708701" cy="489049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19" b="1" i="0">
                <a:solidFill>
                  <a:srgbClr val="2E7D32"/>
                </a:solidFill>
                <a:latin typeface="Inter"/>
              </a:rPr>
              <a:t>Clear Objectives:</a:t>
            </a:r>
            <a:r>
              <a:rPr sz="1019" b="0" i="0">
                <a:solidFill>
                  <a:srgbClr val="333333"/>
                </a:solidFill>
                <a:latin typeface="Inter"/>
              </a:rPr>
              <a:t> Define measurable goals</a:t>
            </a:r>
            <a:r>
              <a:rPr sz="1019" b="0" i="0">
                <a:solidFill>
                  <a:srgbClr val="333333"/>
                </a:solidFill>
                <a:latin typeface="Inter"/>
              </a:rPr>
              <a:t> for performance and efficiency</a:t>
            </a:r>
            <a:r>
              <a:rPr sz="1019" b="0" i="0">
                <a:solidFill>
                  <a:srgbClr val="333333"/>
                </a:solidFill>
                <a:latin typeface="Inter"/>
              </a:rPr>
              <a:t> improvements.</a:t>
            </a:r>
          </a:p>
        </p:txBody>
      </p:sp>
      <p:pic>
        <p:nvPicPr>
          <p:cNvPr id="35" name="Picture 34" descr="image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457200" y="5524500"/>
            <a:ext cx="11277600" cy="685800"/>
          </a:xfrm>
          <a:prstGeom prst="rect">
            <a:avLst/>
          </a:prstGeom>
        </p:spPr>
      </p:pic>
      <p:sp>
        <p:nvSpPr>
          <p:cNvPr id="36" name="TextBox 35"/>
          <p:cNvSpPr txBox="1"/>
          <p:nvPr/>
        </p:nvSpPr>
        <p:spPr>
          <a:xfrm>
            <a:off x="854422" y="5672137"/>
            <a:ext cx="2069455" cy="19050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1">
                <a:solidFill>
                  <a:srgbClr val="0D47A1"/>
                </a:solidFill>
                <a:latin typeface="Inter"/>
              </a:rPr>
              <a:t>Strategic Recommendation: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2923877" y="5672137"/>
            <a:ext cx="8451800" cy="19050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1">
                <a:solidFill>
                  <a:srgbClr val="0D47A1"/>
                </a:solidFill>
                <a:latin typeface="Inter"/>
              </a:rPr>
              <a:t> z/OS 3.2 represents a transformational opportunity to modernize mainframe operations while maintaining enterprise-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2025401" y="5862637"/>
            <a:ext cx="8179147" cy="19050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1">
                <a:solidFill>
                  <a:srgbClr val="0D47A1"/>
                </a:solidFill>
                <a:latin typeface="Inter"/>
              </a:rPr>
              <a:t>grade reliability and security. Early adoption will provide competitive advantages in AI-driven business processes.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