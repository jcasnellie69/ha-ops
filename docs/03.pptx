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>
  <p:sldMasterIdLst>
    <p:sldMasterId id="2147483648" r:id="rId1"/>
  </p:sldMasterIdLst>
  <p:sldIdLst>
    <p:sldId id="256" r:id="rId7"/>
  </p:sldIdLst>
  <p:sldSz cx="12192000" cy="6858000" type="screen4x3"/>
  <p:notesSz cx="6858000" cy="9144000"/>
  <p:embeddedFontLst>
    <p:embeddedFont>
      <p:font typeface="Inter" pitchFamily="2" charset="0"/>
      <p:regular r:id="rId11"/>
      <p:bold r:id="rId8"/>
      <p:italic r:id="rId10"/>
      <p:boldItalic r:id="rId9"/>
    </p:embeddedFont>
    <p:embeddedFont>
      <p:font typeface="Arvo" pitchFamily="2" charset="0"/>
      <p:regular r:id="rId15"/>
      <p:bold r:id="rId12"/>
      <p:italic r:id="rId14"/>
      <p:boldItalic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printerSettings" Target="printerSettings/printerSettings1.bin"/>
  <Relationship Id="rId3" Type="http://schemas.openxmlformats.org/officeDocument/2006/relationships/presProps" Target="presProps.xml"/>
  <Relationship Id="rId4" Type="http://schemas.openxmlformats.org/officeDocument/2006/relationships/viewProps" Target="viewProps.xml"/>
  <Relationship Id="rId5" Type="http://schemas.openxmlformats.org/officeDocument/2006/relationships/theme" Target="theme/theme1.xml"/>
  <Relationship Id="rId6" Type="http://schemas.openxmlformats.org/officeDocument/2006/relationships/tableStyles" Target="tableStyles.xml"/>
  <Relationship Id="rId7" Type="http://schemas.openxmlformats.org/officeDocument/2006/relationships/slide" Target="slides/slide1.xml"/>
  <Relationship Id="rId8" Type="http://schemas.openxmlformats.org/officeDocument/2006/relationships/font" Target="fonts/font1.fntdata"/>
  <Relationship Id="rId9" Type="http://schemas.openxmlformats.org/officeDocument/2006/relationships/font" Target="fonts/font2.fntdata"/>
  <Relationship Id="rId10" Type="http://schemas.openxmlformats.org/officeDocument/2006/relationships/font" Target="fonts/font3.fntdata"/>
  <Relationship Id="rId11" Type="http://schemas.openxmlformats.org/officeDocument/2006/relationships/font" Target="fonts/font4.fntdata"/>
  <Relationship Id="rId12" Type="http://schemas.openxmlformats.org/officeDocument/2006/relationships/font" Target="fonts/font5.fntdata"/>
  <Relationship Id="rId13" Type="http://schemas.openxmlformats.org/officeDocument/2006/relationships/font" Target="fonts/font6.fntdata"/>
  <Relationship Id="rId14" Type="http://schemas.openxmlformats.org/officeDocument/2006/relationships/font" Target="fonts/font7.fntdata"/>
  <Relationship Id="rId15" Type="http://schemas.openxmlformats.org/officeDocument/2006/relationships/font" Target="fonts/font8.fntdata"/>
</Relationships>
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49933" y="304800"/>
            <a:ext cx="8491983" cy="476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20" b="1" i="0">
                <a:solidFill>
                  <a:srgbClr val="1976D2"/>
                </a:solidFill>
                <a:latin typeface="Arvo"/>
              </a:rPr>
              <a:t>AI-Infused Capabilities &amp; IBM z17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135534"/>
            <a:ext cx="3653283" cy="2952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1976D2"/>
                </a:solidFill>
                <a:latin typeface="Arvo"/>
              </a:rPr>
              <a:t>Revolutionary AI Integration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628900"/>
            <a:ext cx="200025" cy="2190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83890" y="2647950"/>
            <a:ext cx="5365015" cy="38367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976D2"/>
                </a:solidFill>
                <a:latin typeface="Inter"/>
              </a:rPr>
              <a:t>Telum II processor</a:t>
            </a:r>
            <a:r>
              <a:rPr sz="1139" b="0" i="0">
                <a:solidFill>
                  <a:srgbClr val="333333"/>
                </a:solidFill>
                <a:latin typeface="Inter"/>
              </a:rPr>
              <a:t> delivers hardware-accelerated AI with </a:t>
            </a:r>
            <a:r>
              <a:rPr sz="1139" b="1" i="0">
                <a:solidFill>
                  <a:srgbClr val="0D47A1"/>
                </a:solidFill>
                <a:latin typeface="Inter"/>
              </a:rPr>
              <a:t> 1ms response time</a:t>
            </a:r>
            <a:r>
              <a:rPr sz="1139" b="0" i="0">
                <a:solidFill>
                  <a:srgbClr val="333333"/>
                </a:solidFill>
                <a:latin typeface="Inter"/>
              </a:rPr>
              <a:t> for real-time inferencing.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3219450"/>
            <a:ext cx="200025" cy="2190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83890" y="3236118"/>
            <a:ext cx="5427374" cy="38367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976D2"/>
                </a:solidFill>
                <a:latin typeface="Inter"/>
              </a:rPr>
              <a:t>AI-driven workload management</a:t>
            </a:r>
            <a:r>
              <a:rPr sz="1139" b="0" i="0">
                <a:solidFill>
                  <a:srgbClr val="333333"/>
                </a:solidFill>
                <a:latin typeface="Inter"/>
              </a:rPr>
              <a:t> optimizes CPU usage and network batching</a:t>
            </a:r>
            <a:r>
              <a:rPr sz="1139" b="0" i="0">
                <a:solidFill>
                  <a:srgbClr val="333333"/>
                </a:solidFill>
                <a:latin typeface="Inter"/>
              </a:rPr>
              <a:t> through intelligent pattern analysis.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3810000"/>
            <a:ext cx="200025" cy="2190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83890" y="3824287"/>
            <a:ext cx="5381089" cy="38367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976D2"/>
                </a:solidFill>
                <a:latin typeface="Inter"/>
              </a:rPr>
              <a:t>AI threat detection</a:t>
            </a:r>
            <a:r>
              <a:rPr sz="1139" b="0" i="0">
                <a:solidFill>
                  <a:srgbClr val="333333"/>
                </a:solidFill>
                <a:latin typeface="Inter"/>
              </a:rPr>
              <a:t> analyzes behavioral patterns to identify security threats in</a:t>
            </a:r>
            <a:r>
              <a:rPr sz="1139" b="0" i="0">
                <a:solidFill>
                  <a:srgbClr val="333333"/>
                </a:solidFill>
                <a:latin typeface="Inter"/>
              </a:rPr>
              <a:t> real-time with automated containment.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4400550"/>
            <a:ext cx="200025" cy="2095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83890" y="4412456"/>
            <a:ext cx="5214252" cy="38367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976D2"/>
                </a:solidFill>
                <a:latin typeface="Inter"/>
              </a:rPr>
              <a:t>WLM Policy Advisor</a:t>
            </a:r>
            <a:r>
              <a:rPr sz="1139" b="0" i="0">
                <a:solidFill>
                  <a:srgbClr val="333333"/>
                </a:solidFill>
                <a:latin typeface="Inter"/>
              </a:rPr>
              <a:t> provides AI-powered recommendations for optimizing</a:t>
            </a:r>
            <a:r>
              <a:rPr sz="1139" b="0" i="0">
                <a:solidFill>
                  <a:srgbClr val="333333"/>
                </a:solidFill>
                <a:latin typeface="Inter"/>
              </a:rPr>
              <a:t> workload distribution and performance tuning.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5076825"/>
            <a:ext cx="5715000" cy="5048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00980" y="5174009"/>
            <a:ext cx="5482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1">
                <a:solidFill>
                  <a:srgbClr val="0D47A1"/>
                </a:solidFill>
                <a:latin typeface="Inter"/>
              </a:rPr>
              <a:t>Key Innovation:</a:t>
            </a:r>
            <a:r>
              <a:rPr sz="1080" b="0" i="1">
                <a:solidFill>
                  <a:srgbClr val="0D47A1"/>
                </a:solidFill>
                <a:latin typeface="Inter"/>
              </a:rPr>
              <a:t> z/OS 3.2 enables running both traditional and generative AI models</a:t>
            </a:r>
            <a:r>
              <a:rPr sz="1080" b="0" i="1">
                <a:solidFill>
                  <a:srgbClr val="0D47A1"/>
                </a:solidFill>
                <a:latin typeface="Inter"/>
              </a:rPr>
              <a:t> directly on sensitive data in-place, minimizing data movement risks.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2114550"/>
            <a:ext cx="5791200" cy="3657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0" y="2495550"/>
            <a:ext cx="48768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