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8"/>
      <p:bold r:id="rId11"/>
      <p:italic r:id="rId10"/>
      <p:boldItalic r:id="rId9"/>
    </p:embeddedFont>
    <p:embeddedFont>
      <p:font typeface="Inter" pitchFamily="2" charset="0"/>
      <p:regular r:id="rId12"/>
      <p:bold r:id="rId15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4153" y="152400"/>
            <a:ext cx="716354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2448"/>
              </a:lnSpc>
              <a:spcBef>
                <a:spcPts val="0"/>
              </a:spcBef>
              <a:spcAft>
                <a:spcPts val="0"/>
              </a:spcAft>
            </a:pPr>
            <a:r>
              <a:rPr sz="2039" b="1" i="0">
                <a:solidFill>
                  <a:srgbClr val="1976D2"/>
                </a:solidFill>
                <a:latin typeface="Arvo"/>
              </a:rPr>
              <a:t>z/OS 3.2 Function Matrix — Part 2: Data, Storage &amp;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3153" y="489495"/>
            <a:ext cx="4585692" cy="114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037"/>
              </a:lnSpc>
              <a:spcBef>
                <a:spcPts val="0"/>
              </a:spcBef>
              <a:spcAft>
                <a:spcPts val="0"/>
              </a:spcAft>
            </a:pPr>
            <a:r>
              <a:rPr sz="864" b="0" i="0">
                <a:solidFill>
                  <a:srgbClr val="666666"/>
                </a:solidFill>
                <a:latin typeface="Inter"/>
              </a:rPr>
              <a:t>Priority: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🔴</a:t>
            </a:r>
            <a:r>
              <a:rPr sz="864" b="0" i="0">
                <a:solidFill>
                  <a:srgbClr val="666666"/>
                </a:solidFill>
                <a:latin typeface="Inter"/>
              </a:rPr>
              <a:t> Critical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🟠</a:t>
            </a:r>
            <a:r>
              <a:rPr sz="864" b="0" i="0">
                <a:solidFill>
                  <a:srgbClr val="666666"/>
                </a:solidFill>
                <a:latin typeface="Inter"/>
              </a:rPr>
              <a:t> Important  |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🟢</a:t>
            </a:r>
            <a:r>
              <a:rPr sz="864" b="0" i="0">
                <a:solidFill>
                  <a:srgbClr val="666666"/>
                </a:solidFill>
                <a:latin typeface="Inter"/>
              </a:rPr>
              <a:t> Beneficial  ·  Status: NEW · CHG · ENH  ·  </a:t>
            </a:r>
            <a:r>
              <a:rPr sz="864" b="0" i="0">
                <a:solidFill>
                  <a:srgbClr val="666666"/>
                </a:solidFill>
                <a:latin typeface="Segoe UI Emoji"/>
              </a:rPr>
              <a:t>☐</a:t>
            </a:r>
            <a:r>
              <a:rPr sz="864" b="0" i="0">
                <a:solidFill>
                  <a:srgbClr val="666666"/>
                </a:solidFill>
                <a:latin typeface="Inter"/>
              </a:rPr>
              <a:t> = Track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4741" y="5818137"/>
            <a:ext cx="285750" cy="123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66" y="5818137"/>
            <a:ext cx="27622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6314" y="5818137"/>
            <a:ext cx="266700" cy="12382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2760" y="695176"/>
          <a:ext cx="11826474" cy="508486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64269"/>
                <a:gridCol w="3074937"/>
                <a:gridCol w="1064269"/>
                <a:gridCol w="827782"/>
                <a:gridCol w="827782"/>
                <a:gridCol w="827782"/>
                <a:gridCol w="3311425"/>
                <a:gridCol w="828228"/>
              </a:tblGrid>
              <a:tr h="2033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Function / Feature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Priority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Status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Focus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When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Key Detail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04" b="1" i="0">
                          <a:solidFill>
                            <a:srgbClr val="FFFFFF"/>
                          </a:solidFill>
                          <a:latin typeface="Arvo"/>
                        </a:rPr>
                        <a:t>Track</a:t>
                      </a:r>
                    </a:p>
                  </a:txBody>
                  <a:tcPr anchor="ctr">
                    <a:solidFill>
                      <a:srgbClr val="1976D2"/>
                    </a:solidFill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Arvo"/>
                        </a:rPr>
                        <a:t>OMVS / z/OS UNIX System Services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PROC file system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pseudo-FS providing process info via /proc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shlock and flock — shell script locking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Locking mechanisms for z/OS UNIX shell scripts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Validating z/OS UNIX system configuration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tooling to validate UNIX system configuration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Managing namespaces; display FS IDs; per-client NFS unmount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Namespace mgmt; mount point visibility; granular NFS unmount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OMVS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zFS shrink enhancements; BUFSIZE max 2047 MB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6A1B9A"/>
                          </a:solidFill>
                          <a:latin typeface="Inter"/>
                        </a:rPr>
                        <a:t>AI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Improved zFS shrink; UNIX buffer ceiling raised for AI model 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DFSMS — OAM / IDCAMS / HSM   |   CDP — Common Data Provider</a:t>
                      </a:r>
                    </a:p>
                  </a:txBody>
                  <a:tcPr anchor="ctr">
                    <a:solidFill>
                      <a:srgbClr val="00695C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OAM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OAM REST API — START / STOP / DISPLAY / MODIFY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Jan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REST API for Object Access Method; new MVS commands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OAM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ASCBV31 / REUSASID support in OAM components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Feb 2026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OAM updated for new BCP parameters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IDCAMS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DCOLLECT new field 322; REPRO CIMODE; EXTENT POOL V3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🟢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Ben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4E342E"/>
                          </a:solidFill>
                          <a:latin typeface="Inter"/>
                        </a:rPr>
                        <a:t>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Sep–Jan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DCOLLECT offset; REPRO CI mode; extent pool detailed output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CDP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OpenTelemetry Emitter integration (SMF 1157–1161)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CDP feeds new SMF types for OTel telemetry pipeline (OA66345)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CDP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SMF Type 70 subtype 3 — CPU diagnostics data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Mar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subtype for CPU diagnostics measurement (OA68545)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RMF — Resource Measurement Facility   |   SMF Records</a:t>
                      </a:r>
                    </a:p>
                  </a:txBody>
                  <a:tcPr anchor="ctr">
                    <a:solidFill>
                      <a:srgbClr val="4E342E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OpenMetrics endpoint — Prometheus / Grafana integration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Monitor III metrics in OpenMetrics; integrates Prometheus, Telegraf, Grafana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JSON format for DDS responses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DDS returns JSON in addition to XML for flexible data extraction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NETH (Network Express Hybrid) PCIE Activity Report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Dec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PCIE device type; NETH activity panel (OA68173)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Service Class Period in DELAY/PROC/STOR/STORC reports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Service Class Period added to four key reports (OA69228)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RMF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Hardware Group Cap utilization in CPC Capacity Report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CPC report shows Hardware Group Cap utilization (OA69228)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SMF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Type 30 Storage/Paging; Types 1157–1161 OTel; Type 88 Logger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fields in Type 30; OTel record types; Logger SMF88LTDE/ATKE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SMF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Type 119 AI batching flag; Type 72/74 new fields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1565C0"/>
                          </a:solidFill>
                          <a:latin typeface="Inter"/>
                        </a:rPr>
                        <a:t>Monitor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AI batching training flag; IPv6 R1 compliance; I/O link stats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 grid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FFFFFF"/>
                          </a:solidFill>
                          <a:latin typeface="Microsoft YaHei"/>
                        </a:rPr>
                        <a:t>SMP/E  ·  JES2  ·  Language Environment</a:t>
                      </a:r>
                    </a:p>
                  </a:txBody>
                  <a:tcPr anchor="ctr">
                    <a:solidFill>
                      <a:srgbClr val="1565C0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SMP/E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z/OS 3.2 product packaging support; message changes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🔴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Critical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0D47A1"/>
                          </a:solidFill>
                          <a:latin typeface="Inter"/>
                        </a:rPr>
                        <a:t>ENH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SMP/E updated for new 3.2 FMIDs and product packaging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39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JES2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Extended policy functions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Sep 2025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New policy types and conditions for job processing control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  <a:tr h="203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1" i="0">
                          <a:solidFill>
                            <a:srgbClr val="0D47A1"/>
                          </a:solidFill>
                          <a:latin typeface="Arvo"/>
                        </a:rPr>
                        <a:t>Lang Env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IBM Semeru 25 support; CEEPRMxx release updates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🟠</a:t>
                      </a:r>
                      <a:r>
                        <a:rPr sz="816" b="1" i="0">
                          <a:solidFill>
                            <a:srgbClr val="FFFFFF"/>
                          </a:solidFill>
                          <a:latin typeface="Inter"/>
                        </a:rPr>
                        <a:t> Imp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1" i="0">
                          <a:solidFill>
                            <a:srgbClr val="1B5E20"/>
                          </a:solidFill>
                          <a:latin typeface="Inter"/>
                        </a:rPr>
                        <a:t>[NEW]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56" b="1" i="0">
                          <a:solidFill>
                            <a:srgbClr val="00695C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Inter"/>
                        </a:rPr>
                        <a:t>Apr 2026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16" b="0" i="0">
                          <a:solidFill>
                            <a:srgbClr val="333333"/>
                          </a:solidFill>
                          <a:latin typeface="Microsoft YaHei"/>
                        </a:rPr>
                        <a:t>Semeru Runtime v25 supported; LE runtime options changed — retest apps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864" b="0" i="0">
                          <a:solidFill>
                            <a:srgbClr val="AAAAAA"/>
                          </a:solidFill>
                          <a:latin typeface="Inter"/>
                        </a:rPr>
                        <a:t>☐</a:t>
                      </a:r>
                    </a:p>
                  </a:txBody>
                  <a:tcPr anchor="ctr">
                    <a:solidFill>
                      <a:srgbClr val="F0F7FF"/>
                    </a:solidFill>
                    <a:lnB w="9525" cmpd="sng">
                      <a:solidFill>
                        <a:srgbClr val="DDEE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442841" y="5830192"/>
            <a:ext cx="21327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1B5E20"/>
                </a:solidFill>
                <a:latin typeface="Inter"/>
              </a:rPr>
              <a:t>NEW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4572" y="5830192"/>
            <a:ext cx="545603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New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0166" y="5830192"/>
            <a:ext cx="20315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BF360C"/>
                </a:solidFill>
                <a:latin typeface="Inter"/>
              </a:rPr>
              <a:t>CHG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1778" y="5830192"/>
            <a:ext cx="69264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Changed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4414" y="5830192"/>
            <a:ext cx="19303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719" b="1" i="0">
                <a:solidFill>
                  <a:srgbClr val="0D47A1"/>
                </a:solidFill>
                <a:latin typeface="Inter"/>
              </a:rPr>
              <a:t>ENH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905" y="5830192"/>
            <a:ext cx="5823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0160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4E342E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8564" y="5830192"/>
            <a:ext cx="556021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Data/Storage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6476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1565C0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4880" y="5830192"/>
            <a:ext cx="440680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7450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00695C"/>
                </a:solidFill>
                <a:latin typeface="Inter"/>
              </a:rPr>
              <a:t>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5854" y="5830192"/>
            <a:ext cx="461664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09409" y="5830192"/>
            <a:ext cx="58042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 i="0">
                <a:solidFill>
                  <a:srgbClr val="6A1B9A"/>
                </a:solidFill>
                <a:latin typeface="Inte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7813" y="5830192"/>
            <a:ext cx="89296" cy="104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893"/>
              </a:lnSpc>
              <a:spcBef>
                <a:spcPts val="0"/>
              </a:spcBef>
              <a:spcAft>
                <a:spcPts val="0"/>
              </a:spcAft>
            </a:pPr>
            <a:r>
              <a:rPr sz="744" b="0" i="0">
                <a:solidFill>
                  <a:srgbClr val="333333"/>
                </a:solidFill>
                <a:latin typeface="Inter"/>
              </a:rPr>
              <a:t>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