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Inter" pitchFamily="2" charset="0"/>
      <p:regular r:id="rId8"/>
      <p:bold r:id="rId11"/>
      <p:italic r:id="rId10"/>
      <p:boldItalic r:id="rId9"/>
    </p:embeddedFont>
    <p:embeddedFont>
      <p:font typeface="Arvo" pitchFamily="2" charset="0"/>
      <p:regular r:id="rId12"/>
      <p:bold r:id="rId15"/>
      <p:italic r:id="rId14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printerSettings" Target="printerSettings/printerSettings1.bin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  <Relationship Id="rId6" Type="http://schemas.openxmlformats.org/officeDocument/2006/relationships/tableStyles" Target="tableStyles.xml"/>
  <Relationship Id="rId7" Type="http://schemas.openxmlformats.org/officeDocument/2006/relationships/slide" Target="slides/slide1.xml"/>
  <Relationship Id="rId8" Type="http://schemas.openxmlformats.org/officeDocument/2006/relationships/font" Target="fonts/font1.fntdata"/>
  <Relationship Id="rId9" Type="http://schemas.openxmlformats.org/officeDocument/2006/relationships/font" Target="fonts/font2.fntdata"/>
  <Relationship Id="rId10" Type="http://schemas.openxmlformats.org/officeDocument/2006/relationships/font" Target="fonts/font3.fntdata"/>
  <Relationship Id="rId11" Type="http://schemas.openxmlformats.org/officeDocument/2006/relationships/font" Target="fonts/font4.fntdata"/>
  <Relationship Id="rId12" Type="http://schemas.openxmlformats.org/officeDocument/2006/relationships/font" Target="fonts/font5.fntdata"/>
  <Relationship Id="rId13" Type="http://schemas.openxmlformats.org/officeDocument/2006/relationships/font" Target="fonts/font6.fntdata"/>
  <Relationship Id="rId14" Type="http://schemas.openxmlformats.org/officeDocument/2006/relationships/font" Target="fonts/font7.fntdata"/>
  <Relationship Id="rId15" Type="http://schemas.openxmlformats.org/officeDocument/2006/relationships/font" Target="fonts/font8.fntdata"/>
</Relationships>
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02297" y="152400"/>
            <a:ext cx="6387405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448"/>
              </a:lnSpc>
              <a:spcBef>
                <a:spcPts val="0"/>
              </a:spcBef>
              <a:spcAft>
                <a:spcPts val="0"/>
              </a:spcAft>
            </a:pPr>
            <a:r>
              <a:rPr sz="2039" b="1" i="0">
                <a:solidFill>
                  <a:srgbClr val="1976D2"/>
                </a:solidFill>
                <a:latin typeface="Arvo"/>
              </a:rPr>
              <a:t>z/OS 3.2 Function Matrix — Part 1: AI, Security &amp;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3153" y="489495"/>
            <a:ext cx="4585692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66666"/>
                </a:solidFill>
                <a:latin typeface="Inter"/>
              </a:rPr>
              <a:t>Priority: </a:t>
            </a:r>
            <a:r>
              <a:rPr sz="864" b="0" i="0">
                <a:solidFill>
                  <a:srgbClr val="666666"/>
                </a:solidFill>
                <a:latin typeface="Segoe UI Emoji"/>
              </a:rPr>
              <a:t>🔴</a:t>
            </a:r>
            <a:r>
              <a:rPr sz="864" b="0" i="0">
                <a:solidFill>
                  <a:srgbClr val="666666"/>
                </a:solidFill>
                <a:latin typeface="Inter"/>
              </a:rPr>
              <a:t> Critical  |  </a:t>
            </a:r>
            <a:r>
              <a:rPr sz="864" b="0" i="0">
                <a:solidFill>
                  <a:srgbClr val="666666"/>
                </a:solidFill>
                <a:latin typeface="Segoe UI Emoji"/>
              </a:rPr>
              <a:t>🟠</a:t>
            </a:r>
            <a:r>
              <a:rPr sz="864" b="0" i="0">
                <a:solidFill>
                  <a:srgbClr val="666666"/>
                </a:solidFill>
                <a:latin typeface="Inter"/>
              </a:rPr>
              <a:t> Important  |  </a:t>
            </a:r>
            <a:r>
              <a:rPr sz="864" b="0" i="0">
                <a:solidFill>
                  <a:srgbClr val="666666"/>
                </a:solidFill>
                <a:latin typeface="Segoe UI Emoji"/>
              </a:rPr>
              <a:t>🟢</a:t>
            </a:r>
            <a:r>
              <a:rPr sz="864" b="0" i="0">
                <a:solidFill>
                  <a:srgbClr val="666666"/>
                </a:solidFill>
                <a:latin typeface="Inter"/>
              </a:rPr>
              <a:t> Beneficial  ·  Status: NEW · CHG · ENH  ·  </a:t>
            </a:r>
            <a:r>
              <a:rPr sz="864" b="0" i="0">
                <a:solidFill>
                  <a:srgbClr val="666666"/>
                </a:solidFill>
                <a:latin typeface="Segoe UI Emoji"/>
              </a:rPr>
              <a:t>☐</a:t>
            </a:r>
            <a:r>
              <a:rPr sz="864" b="0" i="0">
                <a:solidFill>
                  <a:srgbClr val="666666"/>
                </a:solidFill>
                <a:latin typeface="Inter"/>
              </a:rPr>
              <a:t> = Track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905" y="5638651"/>
            <a:ext cx="285750" cy="123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1230" y="5638651"/>
            <a:ext cx="276225" cy="123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5478" y="5638651"/>
            <a:ext cx="266700" cy="12382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2760" y="695176"/>
          <a:ext cx="11826474" cy="490537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64269"/>
                <a:gridCol w="3074937"/>
                <a:gridCol w="1064269"/>
                <a:gridCol w="827782"/>
                <a:gridCol w="827782"/>
                <a:gridCol w="827782"/>
                <a:gridCol w="3311425"/>
                <a:gridCol w="828228"/>
              </a:tblGrid>
              <a:tr h="20439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Component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Function / Feature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Priority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Status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Focus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When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Key Detail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Track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</a:tr>
              <a:tr h="204390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FFFFFF"/>
                          </a:solidFill>
                          <a:latin typeface="Microsoft YaHei"/>
                        </a:rPr>
                        <a:t>AI WORKLOADS — BCP &amp; Communications Server</a:t>
                      </a:r>
                    </a:p>
                  </a:txBody>
                  <a:tcPr anchor="ctr">
                    <a:solidFill>
                      <a:srgbClr val="1565C0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BCP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Microsoft YaHei"/>
                        </a:rPr>
                        <a:t>AI System Services 1.2 — ML for z/OS Core Edition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6A1B9A"/>
                          </a:solidFill>
                          <a:latin typeface="Inter"/>
                        </a:rPr>
                        <a:t>AI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AI inferencing integrated into base OS; replaces AISS 1.1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BCP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zDNN support for IBM z17 / Telum II processor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ENH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6A1B9A"/>
                          </a:solidFill>
                          <a:latin typeface="Inter"/>
                        </a:rPr>
                        <a:t>AI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Deep Neural Network library updated for Telum II accelerator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BCP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WLM_SCLASS_SYSSTC health check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6A1B9A"/>
                          </a:solidFill>
                          <a:latin typeface="Inter"/>
                        </a:rPr>
                        <a:t>AI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Health check for WLM service class assignments for STCs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BCP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Tailored Fit Pricing for zIIP workloads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6A1B9A"/>
                          </a:solidFill>
                          <a:latin typeface="Inter"/>
                        </a:rPr>
                        <a:t>AI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Hardware pricing model for zIIP-eligible AI workloads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BCP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Workload-level power consumption reporting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🟢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Ben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6A1B9A"/>
                          </a:solidFill>
                          <a:latin typeface="Inter"/>
                        </a:rPr>
                        <a:t>AI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Power usage reporting at workload granularity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Comm Svr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AI-assisted outbound packet batching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6A1B9A"/>
                          </a:solidFill>
                          <a:latin typeface="Inter"/>
                        </a:rPr>
                        <a:t>AI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AI model optimizes batch size/timing; reduces CPU overhead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Comm Svr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WLM Policy Advisor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6A1B9A"/>
                          </a:solidFill>
                          <a:latin typeface="Inter"/>
                        </a:rPr>
                        <a:t>AI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AI assistant recommends WLM policy for network/AI workloads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FFFFFF"/>
                          </a:solidFill>
                          <a:latin typeface="Microsoft YaHei"/>
                        </a:rPr>
                        <a:t>SECURITY — RACF &amp; ICSF / Quantum-Safe Cryptography</a:t>
                      </a:r>
                    </a:p>
                  </a:txBody>
                  <a:tcPr anchor="ctr">
                    <a:solidFill>
                      <a:srgbClr val="1565C0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RACF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User ID Containment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B71C1C"/>
                          </a:solidFill>
                          <a:latin typeface="Inter"/>
                        </a:rPr>
                        <a:t>Security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Immediately stops access during active sessions (OA67286)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RACF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AI-driven threat detection &amp; quarantine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B71C1C"/>
                          </a:solidFill>
                          <a:latin typeface="Inter"/>
                        </a:rPr>
                        <a:t>Security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Behavioral pattern analysis with RACF-based quarantine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RACF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Secrets Management support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B71C1C"/>
                          </a:solidFill>
                          <a:latin typeface="Inter"/>
                        </a:rPr>
                        <a:t>Security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Jun 2026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New secrets management capability for credentials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RACF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Password phrase self-service &amp; bypass syntax rules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B71C1C"/>
                          </a:solidFill>
                          <a:latin typeface="Inter"/>
                        </a:rPr>
                        <a:t>Security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Users manage own phrases; installation can override IBM defaults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RACF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RACDCERT multiple alternate names (SANs)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ENH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B71C1C"/>
                          </a:solidFill>
                          <a:latin typeface="Inter"/>
                        </a:rPr>
                        <a:t>Security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Certificate generation supports multiple Subject Alternate Names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ICSF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NIST PQC algorithms GA (ML-KEM, ML-DSA, SLH-DSA)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1565C0"/>
                          </a:solidFill>
                          <a:latin typeface="Inter"/>
                        </a:rPr>
                        <a:t>QSC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Production-ready quantum-safe algorithms on z17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ICSF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System SSL default updates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F360C"/>
                          </a:solidFill>
                          <a:latin typeface="Inter"/>
                        </a:rPr>
                        <a:t>CHG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1565C0"/>
                          </a:solidFill>
                          <a:latin typeface="Inter"/>
                        </a:rPr>
                        <a:t>QSC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TLS defaults updated; weaker cipher suites may be disabled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ICSF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MK Query update &amp; storage constraint relief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ENH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1565C0"/>
                          </a:solidFill>
                          <a:latin typeface="Inter"/>
                        </a:rPr>
                        <a:t>QSC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Master Key query enhancements; ICSF storage usage optimized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FFFFFF"/>
                          </a:solidFill>
                          <a:latin typeface="Microsoft YaHei"/>
                        </a:rPr>
                        <a:t>HYBRID CLOUD — Communications Server, OMVS &amp; z/OSMF</a:t>
                      </a:r>
                    </a:p>
                  </a:txBody>
                  <a:tcPr anchor="ctr">
                    <a:solidFill>
                      <a:srgbClr val="1565C0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Comm Svr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IPv6 R1 Compliance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00695C"/>
                          </a:solidFill>
                          <a:latin typeface="Inter"/>
                        </a:rPr>
                        <a:t>Cloud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Fragmentation, Stable Privacy, Default Address Selection policy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Comm Svr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Docker container networking / Sysplex Distributor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ENH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00695C"/>
                          </a:solidFill>
                          <a:latin typeface="Inter"/>
                        </a:rPr>
                        <a:t>Cloud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Auto-routes traffic to containers without external load balancer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OMVS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z/OS OpenTelemetry Emitter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00695C"/>
                          </a:solidFill>
                          <a:latin typeface="Inter"/>
                        </a:rPr>
                        <a:t>Cloud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Telemetry emission for hybrid cloud observability (OA66345)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OMVS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Password-less logins for NFS server/client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00695C"/>
                          </a:solidFill>
                          <a:latin typeface="Inter"/>
                        </a:rPr>
                        <a:t>Cloud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NFS password-less authentication support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z/OSMF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Software install / OS config / data admin automation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ENH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00695C"/>
                          </a:solidFill>
                          <a:latin typeface="Inter"/>
                        </a:rPr>
                        <a:t>Cloud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Reduced manual steps; z/OS &amp; z17 Upgrade Workflows updated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422005" y="5650706"/>
            <a:ext cx="213270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1B5E20"/>
                </a:solidFill>
                <a:latin typeface="Inter"/>
              </a:rPr>
              <a:t>NEW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736" y="5650706"/>
            <a:ext cx="545603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New 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9330" y="5650706"/>
            <a:ext cx="203150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BF360C"/>
                </a:solidFill>
                <a:latin typeface="Inter"/>
              </a:rPr>
              <a:t>CHG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942" y="5650706"/>
            <a:ext cx="692646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Changed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3578" y="5650706"/>
            <a:ext cx="193030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0D47A1"/>
                </a:solidFill>
                <a:latin typeface="Inter"/>
              </a:rPr>
              <a:t>ENH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5069" y="5650706"/>
            <a:ext cx="582364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Enhancement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9324" y="5650706"/>
            <a:ext cx="58042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 i="0">
                <a:solidFill>
                  <a:srgbClr val="6A1B9A"/>
                </a:solidFill>
                <a:latin typeface="Inter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7728" y="5650706"/>
            <a:ext cx="89296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8915" y="5650706"/>
            <a:ext cx="58042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 i="0">
                <a:solidFill>
                  <a:srgbClr val="B71C1C"/>
                </a:solidFill>
                <a:latin typeface="Inter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7319" y="5650706"/>
            <a:ext cx="340965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0174" y="5650706"/>
            <a:ext cx="58042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 i="0">
                <a:solidFill>
                  <a:srgbClr val="1565C0"/>
                </a:solidFill>
                <a:latin typeface="Inter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8578" y="5650706"/>
            <a:ext cx="613767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Quantum-Safe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235" y="5650706"/>
            <a:ext cx="58042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 i="0">
                <a:solidFill>
                  <a:srgbClr val="00695C"/>
                </a:solidFill>
                <a:latin typeface="Inter"/>
              </a:rPr>
              <a:t>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2639" y="5650706"/>
            <a:ext cx="545455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Hybrid Cloud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