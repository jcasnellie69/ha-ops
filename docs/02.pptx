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Inter" pitchFamily="2" charset="0"/>
      <p:regular r:id="rId11"/>
      <p:bold r:id="rId8"/>
      <p:italic r:id="rId10"/>
      <p:boldItalic r:id="rId9"/>
    </p:embeddedFont>
    <p:embeddedFont>
      <p:font typeface="Arvo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Progress</c:v>
                </c:pt>
              </c:strCache>
            </c:strRef>
          </c:tx>
          <c:spPr>
            <a:solidFill>
              <a:srgbClr val="1976D2">
                <a:alpha val="10000"/>
              </a:srgbClr>
            </a:solidFill>
            <a:ln w="38100">
              <a:solidFill>
                <a:srgbClr val="1976D2"/>
              </a:solidFill>
            </a:ln>
          </c:spPr>
          <c:cat>
            <c:strRef>
              <c:f>Sheet1!$A$2:$A$6</c:f>
              <c:strCache>
                <c:ptCount val="5"/>
                <c:pt idx="0">
                  <c:v>Jan 2025</c:v>
                </c:pt>
                <c:pt idx="1">
                  <c:v>Mar 2025</c:v>
                </c:pt>
                <c:pt idx="2">
                  <c:v>Jun 2025</c:v>
                </c:pt>
                <c:pt idx="3">
                  <c:v>Sep 2025</c:v>
                </c:pt>
                <c:pt idx="4">
                  <c:v>Dec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marker>
            <c:size val="12"/>
            <c:spPr>
              <a:solidFill>
                <a:srgbClr val="1976D2"/>
              </a:solidFill>
              <a:ln w="25400">
                <a:solidFill>
                  <a:srgbClr val="FFFFFF"/>
                </a:solidFill>
              </a:ln>
            </c:spPr>
          </c:marker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100.0"/>
        </c:scaling>
        <c:delete val="0"/>
        <c:axPos val="l"/>
        <c:majorGridlines>
          <c:spPr>
            <a:ln w="12700">
              <a:solidFill>
                <a:srgbClr val="E5E5E5">
                  <a:alpha val="10000"/>
                </a:srgbClr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9093" y="304800"/>
            <a:ext cx="717366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Release Timeline &amp; Key Milestones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00237"/>
          <a:ext cx="5486400" cy="37719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7000" y="1504354"/>
            <a:ext cx="3636317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1" i="0">
                <a:solidFill>
                  <a:srgbClr val="1976D2"/>
                </a:solidFill>
                <a:latin typeface="Arvo"/>
              </a:rPr>
              <a:t>z/OS 3.2 Release Schedule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171700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53225" y="2161579"/>
            <a:ext cx="4649539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Q1 2025:</a:t>
            </a:r>
            <a:r>
              <a:rPr sz="1200" b="1" i="0">
                <a:solidFill>
                  <a:srgbClr val="1976D2"/>
                </a:solidFill>
                <a:latin typeface="Inter"/>
              </a:rPr>
              <a:t> Preview &amp; Early Access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- Technical preview available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for select customers and partners.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867025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38950" y="2854821"/>
            <a:ext cx="4393555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Q2 2025:</a:t>
            </a:r>
            <a:r>
              <a:rPr sz="1200" b="1" i="0">
                <a:solidFill>
                  <a:srgbClr val="1976D2"/>
                </a:solidFill>
                <a:latin typeface="Inter"/>
              </a:rPr>
              <a:t> Beta Testing Phase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- Comprehensive testing with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enterprise customers and system integrators.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3552825"/>
            <a:ext cx="2476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81800" y="3548062"/>
            <a:ext cx="4707582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September 2025:</a:t>
            </a:r>
            <a:r>
              <a:rPr sz="1200" b="1" i="0">
                <a:solidFill>
                  <a:srgbClr val="1976D2"/>
                </a:solidFill>
                <a:latin typeface="Inter"/>
              </a:rPr>
              <a:t> General Availability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- Full commercial release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with complete feature set and support.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4238625"/>
            <a:ext cx="238125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81800" y="4241303"/>
            <a:ext cx="4674989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Q4 2025:</a:t>
            </a:r>
            <a:r>
              <a:rPr sz="1200" b="1" i="0">
                <a:solidFill>
                  <a:srgbClr val="1976D2"/>
                </a:solidFill>
                <a:latin typeface="Inter"/>
              </a:rPr>
              <a:t> Post-Launch Support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- Migration assistance, training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programs, and ongoing enhancements.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5038725"/>
            <a:ext cx="5029200" cy="800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91300" y="5153620"/>
            <a:ext cx="4205882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D47A1"/>
                </a:solidFill>
                <a:latin typeface="Inter"/>
              </a:rPr>
              <a:t>Key Insight: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z/OS 3.2 represents IBM's most significant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mainframe OS update, designed specifically for AI-driven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workloads and hybrid cloud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