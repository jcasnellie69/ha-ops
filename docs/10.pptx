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Arvo" pitchFamily="2" charset="0"/>
      <p:regular r:id="rId8"/>
      <p:bold r:id="rId11"/>
      <p:italic r:id="rId10"/>
      <p:boldItalic r:id="rId9"/>
    </p:embeddedFont>
    <p:embeddedFont>
      <p:font typeface="Inter" pitchFamily="2" charset="0"/>
      <p:regular r:id="rId12"/>
      <p:bold r:id="rId15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7" Type="http://schemas.openxmlformats.org/officeDocument/2006/relationships/slide" Target="slides/slide1.xml"/>
  <Relationship Id="rId8" Type="http://schemas.openxmlformats.org/officeDocument/2006/relationships/font" Target="fonts/font1.fntdata"/>
  <Relationship Id="rId9" Type="http://schemas.openxmlformats.org/officeDocument/2006/relationships/font" Target="fonts/font2.fntdata"/>
  <Relationship Id="rId10" Type="http://schemas.openxmlformats.org/officeDocument/2006/relationships/font" Target="fonts/font3.fntdata"/>
  <Relationship Id="rId11" Type="http://schemas.openxmlformats.org/officeDocument/2006/relationships/font" Target="fonts/font4.fntdata"/>
  <Relationship Id="rId12" Type="http://schemas.openxmlformats.org/officeDocument/2006/relationships/font" Target="fonts/font5.fntdata"/>
  <Relationship Id="rId13" Type="http://schemas.openxmlformats.org/officeDocument/2006/relationships/font" Target="fonts/font6.fntdata"/>
  <Relationship Id="rId14" Type="http://schemas.openxmlformats.org/officeDocument/2006/relationships/font" Target="fonts/font7.fntdata"/>
  <Relationship Id="rId15" Type="http://schemas.openxmlformats.org/officeDocument/2006/relationships/font" Target="fonts/font8.fntdata"/>
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90328" y="228600"/>
            <a:ext cx="7411194" cy="342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976D2"/>
                </a:solidFill>
                <a:latin typeface="Arvo"/>
              </a:rPr>
              <a:t>SYS1.PARMLIB Critical Changes: z/OS 2.5 </a:t>
            </a:r>
            <a:r>
              <a:rPr sz="2400" b="1" i="0">
                <a:solidFill>
                  <a:srgbClr val="1976D2"/>
                </a:solidFill>
                <a:latin typeface="Cambria Math"/>
              </a:rPr>
              <a:t>→ </a:t>
            </a:r>
            <a:r>
              <a:rPr sz="2400" b="1" i="0">
                <a:solidFill>
                  <a:srgbClr val="1976D2"/>
                </a:solidFill>
                <a:latin typeface="Arvo"/>
              </a:rPr>
              <a:t>3.1 </a:t>
            </a:r>
            <a:r>
              <a:rPr sz="2400" b="1" i="0">
                <a:solidFill>
                  <a:srgbClr val="1976D2"/>
                </a:solidFill>
                <a:latin typeface="Cambria Math"/>
              </a:rPr>
              <a:t>→ </a:t>
            </a:r>
            <a:r>
              <a:rPr sz="2400" b="1" i="0">
                <a:solidFill>
                  <a:srgbClr val="1976D2"/>
                </a:solidFill>
                <a:latin typeface="Arvo"/>
              </a:rPr>
              <a:t>3.2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810" y="5722739"/>
            <a:ext cx="2667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2089" y="5722739"/>
            <a:ext cx="2667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368" y="5722739"/>
            <a:ext cx="266700" cy="1524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1556444"/>
          <a:ext cx="11582398" cy="409009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01713"/>
                <a:gridCol w="1286916"/>
                <a:gridCol w="4118223"/>
                <a:gridCol w="1286916"/>
                <a:gridCol w="3088630"/>
              </a:tblGrid>
              <a:tr h="34084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FFFFFF"/>
                          </a:solidFill>
                          <a:latin typeface="Arvo"/>
                        </a:rPr>
                        <a:t>Member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FFFFFF"/>
                          </a:solidFill>
                          <a:latin typeface="Arvo"/>
                        </a:rPr>
                        <a:t>Version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FFFFFF"/>
                          </a:solidFill>
                          <a:latin typeface="Arvo"/>
                        </a:rPr>
                        <a:t>Key Change / Parameter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FFFFFF"/>
                          </a:solidFill>
                          <a:latin typeface="Arvo"/>
                        </a:rPr>
                        <a:t>Priority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FFFFFF"/>
                          </a:solidFill>
                          <a:latin typeface="Arvo"/>
                        </a:rPr>
                        <a:t>Focus Area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BPXPRMxx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Microsoft YaHei"/>
                        </a:rPr>
                        <a:t>HFS params deleted (BUFFERMONITOR, FIXED, RNODEWAIT…); REXXPARSE added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🔴</a:t>
                      </a: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00695C"/>
                          </a:solidFill>
                          <a:latin typeface="Inter"/>
                        </a:rPr>
                        <a:t>Hybrid Cloud / AI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IEAOPTxx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Inter"/>
                        </a:rPr>
                        <a:t>CPENABLE default changed to SYSTEM (was OFF in 2.5 &amp; 3.1)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🔴</a:t>
                      </a: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6A1B9A"/>
                          </a:solidFill>
                          <a:latin typeface="Inter"/>
                        </a:rPr>
                        <a:t>AI Workloads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IEASYSxx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E65100"/>
                          </a:solidFill>
                          <a:latin typeface="Inter"/>
                        </a:rPr>
                        <a:t>3.1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Inter"/>
                        </a:rPr>
                        <a:t>REAL= introduced to replace VRREGN/VREALSZ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🔴</a:t>
                      </a: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4E342E"/>
                          </a:solidFill>
                          <a:latin typeface="Inter"/>
                        </a:rPr>
                        <a:t>Core / AI Memory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IEASYSxx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Microsoft YaHei"/>
                        </a:rPr>
                        <a:t>VRREGN / VREALSZ fully removed — IPL failure if present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🔴</a:t>
                      </a: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4E342E"/>
                          </a:solidFill>
                          <a:latin typeface="Inter"/>
                        </a:rPr>
                        <a:t>Core / AI Memory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CSFPRMxx (ICSF)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Inter"/>
                        </a:rPr>
                        <a:t>NIST PQC GA: ML-KEM-768, ML-DSA-65, SLH-DSA; PKCS11SUPPORT(ENABLE)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🔴</a:t>
                      </a: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1565C0"/>
                          </a:solidFill>
                          <a:latin typeface="Inter"/>
                        </a:rPr>
                        <a:t>Quantum-Safe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IARPRMxx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Inter"/>
                        </a:rPr>
                        <a:t>New: RESTRICTPFTCADS, ARR2V_REQAUTH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E65100"/>
                          </a:solidFill>
                          <a:latin typeface="Inter"/>
                        </a:rPr>
                        <a:t>🟡</a:t>
                      </a:r>
                      <a:r>
                        <a:rPr sz="900" b="1" i="0">
                          <a:solidFill>
                            <a:srgbClr val="E65100"/>
                          </a:solidFill>
                          <a:latin typeface="Inter"/>
                        </a:rPr>
                        <a:t> Important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6A1B9A"/>
                          </a:solidFill>
                          <a:latin typeface="Inter"/>
                        </a:rPr>
                        <a:t>AI / Security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IRRPRMxx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Inter"/>
                        </a:rPr>
                        <a:t>REUSASID=YES recommended; RACF User ID Containment; DSNRAUTH class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E65100"/>
                          </a:solidFill>
                          <a:latin typeface="Inter"/>
                        </a:rPr>
                        <a:t>🟡</a:t>
                      </a:r>
                      <a:r>
                        <a:rPr sz="900" b="1" i="0">
                          <a:solidFill>
                            <a:srgbClr val="E65100"/>
                          </a:solidFill>
                          <a:latin typeface="Inter"/>
                        </a:rPr>
                        <a:t> Important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1565C0"/>
                          </a:solidFill>
                          <a:latin typeface="Inter"/>
                        </a:rPr>
                        <a:t>Security / QSC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DIAGxx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Microsoft YaHei"/>
                        </a:rPr>
                        <a:t>New: ASCBV31 — ASCB 31-bit storage placement on START/ASCRE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E65100"/>
                          </a:solidFill>
                          <a:latin typeface="Inter"/>
                        </a:rPr>
                        <a:t>🟡</a:t>
                      </a:r>
                      <a:r>
                        <a:rPr sz="900" b="1" i="0">
                          <a:solidFill>
                            <a:srgbClr val="E65100"/>
                          </a:solidFill>
                          <a:latin typeface="Inter"/>
                        </a:rPr>
                        <a:t> Important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4E342E"/>
                          </a:solidFill>
                          <a:latin typeface="Inter"/>
                        </a:rPr>
                        <a:t>Core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SMFLIMxx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Inter"/>
                        </a:rPr>
                        <a:t>New: CHECKREGIONBELOW, CHECKREGIONABOVE, IGNOREIEFUSI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E65100"/>
                          </a:solidFill>
                          <a:latin typeface="Inter"/>
                        </a:rPr>
                        <a:t>🟡</a:t>
                      </a:r>
                      <a:r>
                        <a:rPr sz="900" b="1" i="0">
                          <a:solidFill>
                            <a:srgbClr val="E65100"/>
                          </a:solidFill>
                          <a:latin typeface="Inter"/>
                        </a:rPr>
                        <a:t> Important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6A1B9A"/>
                          </a:solidFill>
                          <a:latin typeface="Inter"/>
                        </a:rPr>
                        <a:t>AI Workloads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CTnBPXxx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Inter"/>
                        </a:rPr>
                        <a:t>BUFSIZE max increased to 2047 MB (was ~256 MB in 2.5)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2E7D32"/>
                          </a:solidFill>
                          <a:latin typeface="Inter"/>
                        </a:rPr>
                        <a:t>🟢</a:t>
                      </a:r>
                      <a:r>
                        <a:rPr sz="900" b="1" i="0">
                          <a:solidFill>
                            <a:srgbClr val="2E7D32"/>
                          </a:solidFill>
                          <a:latin typeface="Inter"/>
                        </a:rPr>
                        <a:t> Beneficial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6A1B9A"/>
                          </a:solidFill>
                          <a:latin typeface="Inter"/>
                        </a:rPr>
                        <a:t>AI / Cloud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IZUPRMxx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Inter"/>
                        </a:rPr>
                        <a:t>New z/OSMF automation workflows; AUTOCONFIG(ENABLE)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2E7D32"/>
                          </a:solidFill>
                          <a:latin typeface="Inter"/>
                        </a:rPr>
                        <a:t>🟢</a:t>
                      </a:r>
                      <a:r>
                        <a:rPr sz="900" b="1" i="0">
                          <a:solidFill>
                            <a:srgbClr val="2E7D32"/>
                          </a:solidFill>
                          <a:latin typeface="Inter"/>
                        </a:rPr>
                        <a:t> Beneficial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00695C"/>
                          </a:solidFill>
                          <a:latin typeface="Inter"/>
                        </a:rPr>
                        <a:t>Hybrid Cloud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929681" y="5745509"/>
            <a:ext cx="15254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565C0"/>
                </a:solidFill>
                <a:latin typeface="Inter"/>
              </a:rPr>
              <a:t>2.5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8791" y="5735984"/>
            <a:ext cx="44469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z/OS 2.5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2960" y="5745509"/>
            <a:ext cx="15254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E65100"/>
                </a:solidFill>
                <a:latin typeface="Inter"/>
              </a:rPr>
              <a:t>3.1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2070" y="5735984"/>
            <a:ext cx="44469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z/OS 3.1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6239" y="5745509"/>
            <a:ext cx="15254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2E7D32"/>
                </a:solidFill>
                <a:latin typeface="Inter"/>
              </a:rPr>
              <a:t>3.2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349" y="5735984"/>
            <a:ext cx="44469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z/OS 3.2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8647" y="5735984"/>
            <a:ext cx="6905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A1B9A"/>
                </a:solidFill>
                <a:latin typeface="Inter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3394" y="5735984"/>
            <a:ext cx="67761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AI Workloads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9608" y="5735984"/>
            <a:ext cx="6905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65C0"/>
                </a:solidFill>
                <a:latin typeface="Inter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4355" y="5735984"/>
            <a:ext cx="74339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Quantum-Safe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6351" y="5735984"/>
            <a:ext cx="6905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695C"/>
                </a:solidFill>
                <a:latin typeface="Inter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1098" y="5735984"/>
            <a:ext cx="66079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Hybrid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0494" y="5735984"/>
            <a:ext cx="6905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342E"/>
                </a:solidFill>
                <a:latin typeface="Inter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5241" y="5735984"/>
            <a:ext cx="24779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