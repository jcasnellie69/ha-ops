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Arvo" pitchFamily="2" charset="0"/>
      <p:regular r:id="rId11"/>
      <p:bold r:id="rId8"/>
      <p:italic r:id="rId10"/>
      <p:boldItalic r:id="rId9"/>
    </p:embeddedFont>
    <p:embeddedFont>
      <p:font typeface="Inter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172444" y="304800"/>
            <a:ext cx="7847111" cy="476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976D2"/>
                </a:solidFill>
                <a:latin typeface="Arvo"/>
              </a:rPr>
              <a:t>Security &amp; Compliance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2130" y="2300287"/>
            <a:ext cx="195069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976D2"/>
                </a:solidFill>
                <a:latin typeface="Arvo"/>
              </a:rPr>
              <a:t>Security Features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71775"/>
            <a:ext cx="247650" cy="219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36290" y="2774602"/>
            <a:ext cx="4713059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976D2"/>
                </a:solidFill>
                <a:latin typeface="Inter"/>
              </a:rPr>
              <a:t>RACF User ID Containment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immediately stops user access to protected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resources during active sessions.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314700"/>
            <a:ext cx="20002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6290" y="3313955"/>
            <a:ext cx="4742229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976D2"/>
                </a:solidFill>
                <a:latin typeface="Inter"/>
              </a:rPr>
              <a:t>Quantum-Safe Algorithms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implement NIST quantum-safe standards for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future-proof encryption protection.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48100"/>
            <a:ext cx="200025" cy="2190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36290" y="3853308"/>
            <a:ext cx="4747885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976D2"/>
                </a:solidFill>
                <a:latin typeface="Inter"/>
              </a:rPr>
              <a:t>AI Threat Detection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analyzes behavioral patterns to identify and contain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security threats in real-time.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391025"/>
            <a:ext cx="20002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36290" y="4392662"/>
            <a:ext cx="4741485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976D2"/>
                </a:solidFill>
                <a:latin typeface="Inter"/>
              </a:rPr>
              <a:t>31-bit ACEEs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support for third-party access control elements above 24-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bit storage line.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943475"/>
            <a:ext cx="200025" cy="2095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36290" y="4932015"/>
            <a:ext cx="4772888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976D2"/>
                </a:solidFill>
                <a:latin typeface="Inter"/>
              </a:rPr>
              <a:t>Reusable ASID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prevents lost address space identifiers through improved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resource management.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81925" y="2300287"/>
            <a:ext cx="2305050" cy="2667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976D2"/>
                </a:solidFill>
                <a:latin typeface="Arvo"/>
              </a:rPr>
              <a:t>Compliance Benefits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75" y="2771775"/>
            <a:ext cx="209550" cy="2190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13190" y="2774602"/>
            <a:ext cx="4748480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32"/>
                </a:solidFill>
                <a:latin typeface="Inter"/>
              </a:rPr>
              <a:t>SOX Compliance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enhanced through automated audit trails and real-time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monitoring capabilities.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8900" y="3314700"/>
            <a:ext cx="200025" cy="21907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713190" y="3313955"/>
            <a:ext cx="4758154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32"/>
                </a:solidFill>
                <a:latin typeface="Inter"/>
              </a:rPr>
              <a:t>GDPR Readiness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with advanced data protection and privacy controls for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European operations.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3848100"/>
            <a:ext cx="266700" cy="21907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13190" y="3853308"/>
            <a:ext cx="4289940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32"/>
                </a:solidFill>
                <a:latin typeface="Inter"/>
              </a:rPr>
              <a:t>HIPAA Support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through enhanced encryption and access control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mechanisms for healthcare data.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29375" y="4391025"/>
            <a:ext cx="209550" cy="2190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713190" y="4392662"/>
            <a:ext cx="4152423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32"/>
                </a:solidFill>
                <a:latin typeface="Inter"/>
              </a:rPr>
              <a:t>PCI DSS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compliance strengthened with quantum-safe payment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processing capabilities.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29375" y="4943475"/>
            <a:ext cx="238125" cy="2095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713190" y="4932015"/>
            <a:ext cx="4208234" cy="34022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2E7D32"/>
                </a:solidFill>
                <a:latin typeface="Inter"/>
              </a:rPr>
              <a:t>Regulatory Reporting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simplified through automated compliance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monitoring and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